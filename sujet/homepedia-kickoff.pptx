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1B_563EC1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2" r:id="rId4"/>
  </p:sldMasterIdLst>
  <p:notesMasterIdLst>
    <p:notesMasterId r:id="rId17"/>
  </p:notesMasterIdLst>
  <p:sldIdLst>
    <p:sldId id="267" r:id="rId5"/>
    <p:sldId id="283" r:id="rId6"/>
    <p:sldId id="257" r:id="rId7"/>
    <p:sldId id="266" r:id="rId8"/>
    <p:sldId id="258" r:id="rId9"/>
    <p:sldId id="268" r:id="rId10"/>
    <p:sldId id="269" r:id="rId11"/>
    <p:sldId id="270" r:id="rId12"/>
    <p:sldId id="284" r:id="rId13"/>
    <p:sldId id="274" r:id="rId14"/>
    <p:sldId id="272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F403534-5939-FBBF-FE37-0C6E6A1ECD2A}" name="Aurelien Pellet" initials="AP" userId="S::aurelien.pellet@epitech.eu::e27407ed-29ce-47f1-8ddb-0c6f2a7d44d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9886"/>
    <a:srgbClr val="9798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5AEE26-CBA5-0DFD-36C1-225688DC8736}" v="371" dt="2023-06-16T07:12:16.068"/>
    <p1510:client id="{2C9EFDF2-7521-318F-FD2E-F9029A3A26CE}" v="2" dt="2023-12-12T08:16:02.558"/>
    <p1510:client id="{69E5CEED-AC42-70B1-EFB8-5015588C660E}" v="2" dt="2023-06-23T06:54:00.003"/>
    <p1510:client id="{6F01EEFD-975C-A09D-895A-E2B5508FAF9A}" v="1324" dt="2023-11-29T10:17:18.106"/>
    <p1510:client id="{7A03C6B6-C720-81BD-C307-EED39CB60FC4}" v="245" dt="2023-10-11T09:46:43.550"/>
    <p1510:client id="{7C152EC2-6B5A-4479-B4B1-066C3908893F}" v="351" dt="2023-06-14T07:41:13.129"/>
    <p1510:client id="{87D0D6D2-4318-D025-14A1-F08195AA9A3D}" v="72" dt="2023-10-11T08:43:36.823"/>
    <p1510:client id="{949584E3-D3D0-F7E1-7B0A-E573A24560F3}" v="30" dt="2023-06-16T10:23:32.079"/>
    <p1510:client id="{AF959024-008F-BD29-6A2C-F839B25636FA}" v="364" dt="2023-07-07T09:25:48.303"/>
    <p1510:client id="{D1FD5339-54DF-4689-5CF6-AA9B60070861}" v="615" dt="2023-12-19T09:07:04.733"/>
    <p1510:client id="{D85807E2-0539-D738-7930-E8663971A0EE}" v="20" dt="2023-12-05T08:23:51.0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omments/modernComment_11B_563EC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4DB96F7-D5B1-4C9A-A9C5-525241D4D759}" authorId="{6F403534-5939-FBBF-FE37-0C6E6A1ECD2A}" created="2023-11-28T08:49:39.561">
    <pc:sldMkLst xmlns:pc="http://schemas.microsoft.com/office/powerpoint/2013/main/command">
      <pc:docMk/>
      <pc:sldMk cId="5652161" sldId="283"/>
    </pc:sldMkLst>
    <p188:txBody>
      <a:bodyPr/>
      <a:lstStyle/>
      <a:p>
        <a:r>
          <a:rPr lang="fr-FR"/>
          <a:t>slide rapide pour expliquer la big data ?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E9A087-4B18-4400-9DF8-9CCF742600A0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0973FFA-328E-4A6C-8388-EC6EC4B33F95}">
      <dgm:prSet phldr="0"/>
      <dgm:spPr/>
      <dgm:t>
        <a:bodyPr/>
        <a:lstStyle/>
        <a:p>
          <a:pPr rtl="0"/>
          <a:r>
            <a:rPr lang="fr-FR" kern="1200" dirty="0" err="1">
              <a:latin typeface="Arial"/>
              <a:ea typeface="Calibri"/>
              <a:cs typeface="Calibri"/>
            </a:rPr>
            <a:t>Having</a:t>
          </a:r>
          <a:r>
            <a:rPr lang="fr-FR" kern="1200" dirty="0">
              <a:latin typeface="Arial"/>
              <a:ea typeface="Calibri"/>
              <a:cs typeface="Calibri"/>
            </a:rPr>
            <a:t> a global but </a:t>
          </a:r>
          <a:r>
            <a:rPr lang="fr-FR" kern="1200" dirty="0" err="1">
              <a:latin typeface="Arial"/>
              <a:ea typeface="Calibri"/>
              <a:cs typeface="Calibri"/>
            </a:rPr>
            <a:t>also</a:t>
          </a:r>
          <a:r>
            <a:rPr lang="fr-FR" kern="1200" dirty="0">
              <a:latin typeface="Arial"/>
              <a:ea typeface="Calibri"/>
              <a:cs typeface="Calibri"/>
            </a:rPr>
            <a:t> local </a:t>
          </a:r>
          <a:r>
            <a:rPr lang="fr-FR" kern="1200" dirty="0" err="1">
              <a:latin typeface="Arial"/>
              <a:ea typeface="Calibri"/>
              <a:cs typeface="Calibri"/>
            </a:rPr>
            <a:t>pespective</a:t>
          </a:r>
          <a:r>
            <a:rPr lang="fr-FR" kern="1200" dirty="0">
              <a:latin typeface="Arial"/>
              <a:ea typeface="Calibri"/>
              <a:cs typeface="Calibri"/>
            </a:rPr>
            <a:t> on the topic of </a:t>
          </a:r>
          <a:r>
            <a:rPr lang="fr-FR" kern="1200" dirty="0" err="1">
              <a:latin typeface="Arial"/>
              <a:ea typeface="Calibri"/>
              <a:cs typeface="Calibri"/>
            </a:rPr>
            <a:t>interest</a:t>
          </a:r>
          <a:endParaRPr lang="en-US" kern="1200" dirty="0" err="1">
            <a:latin typeface="Arial"/>
            <a:ea typeface="Calibri"/>
            <a:cs typeface="Calibri"/>
          </a:endParaRPr>
        </a:p>
        <a:p>
          <a:endParaRPr lang="en-US" kern="1200">
            <a:latin typeface="Calibri"/>
            <a:ea typeface="Calibri"/>
            <a:cs typeface="Calibri"/>
          </a:endParaRPr>
        </a:p>
      </dgm:t>
    </dgm:pt>
    <dgm:pt modelId="{57996A38-0C14-4154-809A-F6626531CD30}" type="parTrans" cxnId="{B89E9474-44C7-4AC3-B9A9-25B2579FAC90}">
      <dgm:prSet/>
      <dgm:spPr/>
      <dgm:t>
        <a:bodyPr/>
        <a:lstStyle/>
        <a:p>
          <a:endParaRPr lang="en-GB"/>
        </a:p>
      </dgm:t>
    </dgm:pt>
    <dgm:pt modelId="{718E4A24-ED3B-48C2-9945-3F4605AF0BC6}" type="sibTrans" cxnId="{B89E9474-44C7-4AC3-B9A9-25B2579FAC90}">
      <dgm:prSet/>
      <dgm:spPr/>
      <dgm:t>
        <a:bodyPr/>
        <a:lstStyle/>
        <a:p>
          <a:endParaRPr lang="en-GB"/>
        </a:p>
      </dgm:t>
    </dgm:pt>
    <dgm:pt modelId="{F84055A8-B4EC-4B90-989B-A2E2B9296E8D}">
      <dgm:prSet phldr="0"/>
      <dgm:spPr/>
      <dgm:t>
        <a:bodyPr/>
        <a:lstStyle/>
        <a:p>
          <a:pPr rtl="0"/>
          <a:r>
            <a:rPr lang="fr-FR" kern="1200" dirty="0" err="1">
              <a:latin typeface="Arial"/>
              <a:ea typeface="Calibri"/>
              <a:cs typeface="Calibri"/>
            </a:rPr>
            <a:t>Different</a:t>
          </a:r>
          <a:r>
            <a:rPr lang="fr-FR" kern="1200" dirty="0">
              <a:latin typeface="Arial"/>
              <a:ea typeface="Calibri"/>
              <a:cs typeface="Calibri"/>
            </a:rPr>
            <a:t> data formats</a:t>
          </a:r>
          <a:endParaRPr lang="en-US" kern="1200" dirty="0">
            <a:latin typeface="Arial"/>
            <a:ea typeface="Calibri"/>
            <a:cs typeface="Calibri"/>
          </a:endParaRPr>
        </a:p>
      </dgm:t>
    </dgm:pt>
    <dgm:pt modelId="{436085B0-D839-4EA6-89D4-E3D4511AC1C0}" type="parTrans" cxnId="{7D2FA422-E9E9-43E1-B55F-D25D0A266F00}">
      <dgm:prSet/>
      <dgm:spPr/>
      <dgm:t>
        <a:bodyPr/>
        <a:lstStyle/>
        <a:p>
          <a:endParaRPr lang="en-GB"/>
        </a:p>
      </dgm:t>
    </dgm:pt>
    <dgm:pt modelId="{FA767A97-760D-477B-A43F-5CBC5109BAEF}" type="sibTrans" cxnId="{7D2FA422-E9E9-43E1-B55F-D25D0A266F00}">
      <dgm:prSet/>
      <dgm:spPr/>
      <dgm:t>
        <a:bodyPr/>
        <a:lstStyle/>
        <a:p>
          <a:endParaRPr lang="en-GB"/>
        </a:p>
      </dgm:t>
    </dgm:pt>
    <dgm:pt modelId="{185F74D3-7D94-4CA5-84C9-750C21125CA2}">
      <dgm:prSet phldr="0"/>
      <dgm:spPr/>
      <dgm:t>
        <a:bodyPr/>
        <a:lstStyle/>
        <a:p>
          <a:pPr rtl="0"/>
          <a:r>
            <a:rPr lang="fr-FR" kern="1200" dirty="0">
              <a:latin typeface="Arial"/>
              <a:ea typeface="Calibri"/>
              <a:cs typeface="Calibri"/>
            </a:rPr>
            <a:t>A type of format correspond to a type of information</a:t>
          </a:r>
          <a:endParaRPr lang="en-US" kern="1200" dirty="0">
            <a:latin typeface="Arial"/>
            <a:ea typeface="Calibri"/>
            <a:cs typeface="Calibri"/>
          </a:endParaRPr>
        </a:p>
      </dgm:t>
    </dgm:pt>
    <dgm:pt modelId="{7A5E6323-89B5-4919-90EA-C642582B48B3}" type="parTrans" cxnId="{681120B6-5F81-4127-AC24-A65A25932A53}">
      <dgm:prSet/>
      <dgm:spPr/>
      <dgm:t>
        <a:bodyPr/>
        <a:lstStyle/>
        <a:p>
          <a:endParaRPr lang="en-GB"/>
        </a:p>
      </dgm:t>
    </dgm:pt>
    <dgm:pt modelId="{0238EBAE-2354-46F5-AB06-8EBD25BE1E4C}" type="sibTrans" cxnId="{681120B6-5F81-4127-AC24-A65A25932A53}">
      <dgm:prSet/>
      <dgm:spPr/>
      <dgm:t>
        <a:bodyPr/>
        <a:lstStyle/>
        <a:p>
          <a:endParaRPr lang="en-GB"/>
        </a:p>
      </dgm:t>
    </dgm:pt>
    <dgm:pt modelId="{2987590A-A424-4D8B-9C73-E22B8B53F90E}">
      <dgm:prSet phldr="0"/>
      <dgm:spPr/>
      <dgm:t>
        <a:bodyPr/>
        <a:lstStyle/>
        <a:p>
          <a:pPr rtl="0"/>
          <a:r>
            <a:rPr lang="fr-FR" kern="1200" dirty="0" err="1">
              <a:latin typeface="Arial"/>
              <a:ea typeface="Calibri"/>
              <a:cs typeface="Calibri"/>
            </a:rPr>
            <a:t>Diversifying</a:t>
          </a:r>
          <a:r>
            <a:rPr lang="fr-FR" kern="1200" dirty="0">
              <a:latin typeface="Arial"/>
              <a:ea typeface="Calibri"/>
              <a:cs typeface="Calibri"/>
            </a:rPr>
            <a:t> formats to </a:t>
          </a:r>
          <a:r>
            <a:rPr lang="fr-FR" kern="1200" dirty="0" err="1">
              <a:latin typeface="Arial"/>
              <a:ea typeface="Calibri"/>
              <a:cs typeface="Calibri"/>
            </a:rPr>
            <a:t>vary</a:t>
          </a:r>
          <a:r>
            <a:rPr lang="fr-FR" kern="1200" dirty="0">
              <a:latin typeface="Arial"/>
              <a:ea typeface="Calibri"/>
              <a:cs typeface="Calibri"/>
            </a:rPr>
            <a:t> the angle of </a:t>
          </a:r>
          <a:r>
            <a:rPr lang="fr-FR" kern="1200" dirty="0" err="1">
              <a:latin typeface="Arial"/>
              <a:ea typeface="Calibri"/>
              <a:cs typeface="Calibri"/>
            </a:rPr>
            <a:t>analysis</a:t>
          </a:r>
          <a:endParaRPr lang="en-US" kern="1200" dirty="0">
            <a:latin typeface="Arial"/>
            <a:ea typeface="Calibri"/>
            <a:cs typeface="Calibri"/>
          </a:endParaRPr>
        </a:p>
      </dgm:t>
    </dgm:pt>
    <dgm:pt modelId="{73CA0934-3ABD-4AD4-9691-9FB7BF328091}" type="parTrans" cxnId="{8A0B7C2B-5CE5-437D-AFE8-EAC0B26AE09C}">
      <dgm:prSet/>
      <dgm:spPr/>
      <dgm:t>
        <a:bodyPr/>
        <a:lstStyle/>
        <a:p>
          <a:endParaRPr lang="en-GB"/>
        </a:p>
      </dgm:t>
    </dgm:pt>
    <dgm:pt modelId="{D56301EB-1EC2-4A31-BBC1-CD0F6E5CC3CA}" type="sibTrans" cxnId="{8A0B7C2B-5CE5-437D-AFE8-EAC0B26AE09C}">
      <dgm:prSet/>
      <dgm:spPr/>
      <dgm:t>
        <a:bodyPr/>
        <a:lstStyle/>
        <a:p>
          <a:endParaRPr lang="en-GB"/>
        </a:p>
      </dgm:t>
    </dgm:pt>
    <dgm:pt modelId="{27C5A159-5534-438D-A5B6-3558F2F201F5}">
      <dgm:prSet phldr="0"/>
      <dgm:spPr/>
      <dgm:t>
        <a:bodyPr/>
        <a:lstStyle/>
        <a:p>
          <a:r>
            <a:rPr lang="fr-FR" kern="1200" dirty="0">
              <a:latin typeface="Arial"/>
              <a:ea typeface="Calibri"/>
              <a:cs typeface="Calibri"/>
            </a:rPr>
            <a:t>Origines variées</a:t>
          </a:r>
          <a:endParaRPr lang="en-US" kern="1200" dirty="0">
            <a:latin typeface="Arial"/>
            <a:ea typeface="Calibri"/>
            <a:cs typeface="Calibri"/>
          </a:endParaRPr>
        </a:p>
      </dgm:t>
    </dgm:pt>
    <dgm:pt modelId="{00297C16-5810-4667-9E8F-CB26A898863A}" type="parTrans" cxnId="{FE720CAE-88A7-48B0-A899-72094EA5A7B0}">
      <dgm:prSet/>
      <dgm:spPr/>
      <dgm:t>
        <a:bodyPr/>
        <a:lstStyle/>
        <a:p>
          <a:endParaRPr lang="en-GB"/>
        </a:p>
      </dgm:t>
    </dgm:pt>
    <dgm:pt modelId="{877BD717-11C9-41D2-A69C-22622F36105F}" type="sibTrans" cxnId="{FE720CAE-88A7-48B0-A899-72094EA5A7B0}">
      <dgm:prSet/>
      <dgm:spPr/>
      <dgm:t>
        <a:bodyPr/>
        <a:lstStyle/>
        <a:p>
          <a:endParaRPr lang="en-GB"/>
        </a:p>
      </dgm:t>
    </dgm:pt>
    <dgm:pt modelId="{3D45EC43-3AC4-47D1-8E33-E8891A94692F}">
      <dgm:prSet phldr="0"/>
      <dgm:spPr/>
      <dgm:t>
        <a:bodyPr/>
        <a:lstStyle/>
        <a:p>
          <a:pPr rtl="0"/>
          <a:r>
            <a:rPr lang="fr-FR" kern="1200" dirty="0" err="1">
              <a:latin typeface="Arial"/>
              <a:ea typeface="Calibri"/>
              <a:cs typeface="Calibri"/>
            </a:rPr>
            <a:t>Attaining</a:t>
          </a:r>
          <a:r>
            <a:rPr lang="fr-FR" kern="1200" dirty="0">
              <a:latin typeface="Arial"/>
              <a:ea typeface="Calibri"/>
              <a:cs typeface="Calibri"/>
            </a:rPr>
            <a:t> a </a:t>
          </a:r>
          <a:r>
            <a:rPr lang="fr-FR" kern="1200" dirty="0" err="1">
              <a:latin typeface="Arial"/>
              <a:ea typeface="Calibri"/>
              <a:cs typeface="Calibri"/>
            </a:rPr>
            <a:t>better</a:t>
          </a:r>
          <a:r>
            <a:rPr lang="fr-FR" kern="1200" dirty="0">
              <a:latin typeface="Arial"/>
              <a:ea typeface="Calibri"/>
              <a:cs typeface="Calibri"/>
            </a:rPr>
            <a:t> </a:t>
          </a:r>
          <a:r>
            <a:rPr lang="fr-FR" kern="1200" dirty="0" err="1">
              <a:latin typeface="Arial"/>
              <a:ea typeface="Calibri"/>
              <a:cs typeface="Calibri"/>
            </a:rPr>
            <a:t>represantation</a:t>
          </a:r>
          <a:r>
            <a:rPr lang="fr-FR" kern="1200" dirty="0">
              <a:latin typeface="Arial"/>
              <a:ea typeface="Calibri"/>
              <a:cs typeface="Calibri"/>
            </a:rPr>
            <a:t> of information</a:t>
          </a:r>
          <a:endParaRPr lang="en-US" kern="1200" dirty="0">
            <a:latin typeface="Arial"/>
            <a:ea typeface="Calibri"/>
            <a:cs typeface="Calibri"/>
          </a:endParaRPr>
        </a:p>
      </dgm:t>
    </dgm:pt>
    <dgm:pt modelId="{50CF57A9-7B76-446F-BAD2-51D3E98605B8}" type="parTrans" cxnId="{2850097C-3102-40BC-9531-BFC161D79E1A}">
      <dgm:prSet/>
      <dgm:spPr/>
      <dgm:t>
        <a:bodyPr/>
        <a:lstStyle/>
        <a:p>
          <a:endParaRPr lang="en-GB"/>
        </a:p>
      </dgm:t>
    </dgm:pt>
    <dgm:pt modelId="{A7F648BE-0BD9-4176-AC5A-6BC0C026542B}" type="sibTrans" cxnId="{2850097C-3102-40BC-9531-BFC161D79E1A}">
      <dgm:prSet/>
      <dgm:spPr/>
      <dgm:t>
        <a:bodyPr/>
        <a:lstStyle/>
        <a:p>
          <a:endParaRPr lang="en-GB"/>
        </a:p>
      </dgm:t>
    </dgm:pt>
    <dgm:pt modelId="{2D257A63-68F1-4375-BA98-A06E7BA089DD}">
      <dgm:prSet phldr="0"/>
      <dgm:spPr/>
      <dgm:t>
        <a:bodyPr/>
        <a:lstStyle/>
        <a:p>
          <a:pPr rtl="0"/>
          <a:r>
            <a:rPr lang="fr-FR" kern="1200" dirty="0" err="1">
              <a:latin typeface="Arial"/>
              <a:ea typeface="Calibri"/>
              <a:cs typeface="Calibri"/>
            </a:rPr>
            <a:t>Depending</a:t>
          </a:r>
          <a:r>
            <a:rPr lang="fr-FR" kern="1200" dirty="0">
              <a:latin typeface="Arial"/>
              <a:ea typeface="Calibri"/>
              <a:cs typeface="Calibri"/>
            </a:rPr>
            <a:t> on the </a:t>
          </a:r>
          <a:r>
            <a:rPr lang="fr-FR" kern="1200" dirty="0" err="1">
              <a:latin typeface="Arial"/>
              <a:ea typeface="Calibri"/>
              <a:cs typeface="Calibri"/>
            </a:rPr>
            <a:t>origin</a:t>
          </a:r>
          <a:r>
            <a:rPr lang="fr-FR" kern="1200" dirty="0">
              <a:latin typeface="Arial"/>
              <a:ea typeface="Calibri"/>
              <a:cs typeface="Calibri"/>
            </a:rPr>
            <a:t>, concernes are not the same</a:t>
          </a:r>
        </a:p>
      </dgm:t>
    </dgm:pt>
    <dgm:pt modelId="{13DFB291-422F-4BD7-AA34-AC35EE77BDB1}" type="parTrans" cxnId="{6EE5CD65-0925-43BC-BD8C-8F6C02E627B3}">
      <dgm:prSet/>
      <dgm:spPr/>
      <dgm:t>
        <a:bodyPr/>
        <a:lstStyle/>
        <a:p>
          <a:endParaRPr lang="en-GB"/>
        </a:p>
      </dgm:t>
    </dgm:pt>
    <dgm:pt modelId="{30AAB677-B289-4DF1-8B02-E41B78D7D72E}" type="sibTrans" cxnId="{6EE5CD65-0925-43BC-BD8C-8F6C02E627B3}">
      <dgm:prSet/>
      <dgm:spPr/>
      <dgm:t>
        <a:bodyPr/>
        <a:lstStyle/>
        <a:p>
          <a:endParaRPr lang="en-GB"/>
        </a:p>
      </dgm:t>
    </dgm:pt>
    <dgm:pt modelId="{84AFBE3B-92AB-4A6E-9094-AACB20FC6908}">
      <dgm:prSet phldr="0"/>
      <dgm:spPr/>
      <dgm:t>
        <a:bodyPr/>
        <a:lstStyle/>
        <a:p>
          <a:pPr rtl="0"/>
          <a:r>
            <a:rPr lang="fr-FR" kern="1200" dirty="0">
              <a:latin typeface="Arial"/>
              <a:ea typeface="Calibri"/>
              <a:cs typeface="Calibri"/>
            </a:rPr>
            <a:t>Diversity of </a:t>
          </a:r>
          <a:r>
            <a:rPr lang="fr-FR" kern="1200" dirty="0" err="1">
              <a:latin typeface="Arial"/>
              <a:ea typeface="Calibri"/>
              <a:cs typeface="Calibri"/>
            </a:rPr>
            <a:t>analysis</a:t>
          </a:r>
          <a:r>
            <a:rPr lang="fr-FR" kern="1200" dirty="0">
              <a:latin typeface="Arial"/>
              <a:ea typeface="Calibri"/>
              <a:cs typeface="Calibri"/>
            </a:rPr>
            <a:t> </a:t>
          </a:r>
          <a:r>
            <a:rPr lang="fr-FR" kern="1200" dirty="0" err="1">
              <a:latin typeface="Arial"/>
              <a:ea typeface="Calibri"/>
              <a:cs typeface="Calibri"/>
            </a:rPr>
            <a:t>levels</a:t>
          </a:r>
          <a:endParaRPr lang="en-US" kern="1200" dirty="0">
            <a:latin typeface="Arial"/>
            <a:ea typeface="Calibri"/>
            <a:cs typeface="Calibri"/>
          </a:endParaRPr>
        </a:p>
      </dgm:t>
    </dgm:pt>
    <dgm:pt modelId="{50859391-21E4-46D9-B400-B0E224529D27}" type="parTrans" cxnId="{B732C1D9-14CC-4E52-A740-6DDBDEC93FCC}">
      <dgm:prSet/>
      <dgm:spPr/>
      <dgm:t>
        <a:bodyPr/>
        <a:lstStyle/>
        <a:p>
          <a:endParaRPr lang="en-GB"/>
        </a:p>
      </dgm:t>
    </dgm:pt>
    <dgm:pt modelId="{75FD3AAB-ADF6-4B30-BC3E-ABEBB4AB343F}" type="sibTrans" cxnId="{B732C1D9-14CC-4E52-A740-6DDBDEC93FCC}">
      <dgm:prSet/>
      <dgm:spPr/>
      <dgm:t>
        <a:bodyPr/>
        <a:lstStyle/>
        <a:p>
          <a:endParaRPr lang="en-GB"/>
        </a:p>
      </dgm:t>
    </dgm:pt>
    <dgm:pt modelId="{56AAA6B7-67E8-417C-BB8D-D802212691DD}" type="pres">
      <dgm:prSet presAssocID="{88E9A087-4B18-4400-9DF8-9CCF742600A0}" presName="linear" presStyleCnt="0">
        <dgm:presLayoutVars>
          <dgm:dir/>
          <dgm:animLvl val="lvl"/>
          <dgm:resizeHandles val="exact"/>
        </dgm:presLayoutVars>
      </dgm:prSet>
      <dgm:spPr/>
    </dgm:pt>
    <dgm:pt modelId="{E6CA8D70-B864-4D14-A19D-854D8150B8E7}" type="pres">
      <dgm:prSet presAssocID="{F84055A8-B4EC-4B90-989B-A2E2B9296E8D}" presName="parentLin" presStyleCnt="0"/>
      <dgm:spPr/>
    </dgm:pt>
    <dgm:pt modelId="{C749BAA2-3810-416B-A804-8FE2742972B0}" type="pres">
      <dgm:prSet presAssocID="{F84055A8-B4EC-4B90-989B-A2E2B9296E8D}" presName="parentLeftMargin" presStyleLbl="node1" presStyleIdx="0" presStyleCnt="3"/>
      <dgm:spPr/>
    </dgm:pt>
    <dgm:pt modelId="{1F0A0C24-9989-4238-AC7A-FB8218D86791}" type="pres">
      <dgm:prSet presAssocID="{F84055A8-B4EC-4B90-989B-A2E2B9296E8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BBAEE3-E99C-42CC-B295-84718E0922C9}" type="pres">
      <dgm:prSet presAssocID="{F84055A8-B4EC-4B90-989B-A2E2B9296E8D}" presName="negativeSpace" presStyleCnt="0"/>
      <dgm:spPr/>
    </dgm:pt>
    <dgm:pt modelId="{6A5B3419-EDD1-43D1-A269-F8A60A0FA5ED}" type="pres">
      <dgm:prSet presAssocID="{F84055A8-B4EC-4B90-989B-A2E2B9296E8D}" presName="childText" presStyleLbl="conFgAcc1" presStyleIdx="0" presStyleCnt="3">
        <dgm:presLayoutVars>
          <dgm:bulletEnabled val="1"/>
        </dgm:presLayoutVars>
      </dgm:prSet>
      <dgm:spPr/>
    </dgm:pt>
    <dgm:pt modelId="{E2FBAB92-0A3A-4373-A7F4-996DB8BE682C}" type="pres">
      <dgm:prSet presAssocID="{FA767A97-760D-477B-A43F-5CBC5109BAEF}" presName="spaceBetweenRectangles" presStyleCnt="0"/>
      <dgm:spPr/>
    </dgm:pt>
    <dgm:pt modelId="{9A10DC2F-55C8-4477-8FD7-6401102B0039}" type="pres">
      <dgm:prSet presAssocID="{27C5A159-5534-438D-A5B6-3558F2F201F5}" presName="parentLin" presStyleCnt="0"/>
      <dgm:spPr/>
    </dgm:pt>
    <dgm:pt modelId="{6C68D967-5E3E-484F-8B02-C839DBF9ADCF}" type="pres">
      <dgm:prSet presAssocID="{27C5A159-5534-438D-A5B6-3558F2F201F5}" presName="parentLeftMargin" presStyleLbl="node1" presStyleIdx="0" presStyleCnt="3"/>
      <dgm:spPr/>
    </dgm:pt>
    <dgm:pt modelId="{CE216D96-2F66-4C36-B25D-7760A1E26BB8}" type="pres">
      <dgm:prSet presAssocID="{27C5A159-5534-438D-A5B6-3558F2F201F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94A4A02-331F-40E6-A5A6-5B152CE8A82E}" type="pres">
      <dgm:prSet presAssocID="{27C5A159-5534-438D-A5B6-3558F2F201F5}" presName="negativeSpace" presStyleCnt="0"/>
      <dgm:spPr/>
    </dgm:pt>
    <dgm:pt modelId="{C9FC76F4-DD74-482B-BC66-7677119B39E6}" type="pres">
      <dgm:prSet presAssocID="{27C5A159-5534-438D-A5B6-3558F2F201F5}" presName="childText" presStyleLbl="conFgAcc1" presStyleIdx="1" presStyleCnt="3">
        <dgm:presLayoutVars>
          <dgm:bulletEnabled val="1"/>
        </dgm:presLayoutVars>
      </dgm:prSet>
      <dgm:spPr/>
    </dgm:pt>
    <dgm:pt modelId="{8B46111C-012E-45FD-9C16-12ECC5A0C647}" type="pres">
      <dgm:prSet presAssocID="{877BD717-11C9-41D2-A69C-22622F36105F}" presName="spaceBetweenRectangles" presStyleCnt="0"/>
      <dgm:spPr/>
    </dgm:pt>
    <dgm:pt modelId="{E5E61A6E-91DB-4170-A388-6FEB4C80867A}" type="pres">
      <dgm:prSet presAssocID="{84AFBE3B-92AB-4A6E-9094-AACB20FC6908}" presName="parentLin" presStyleCnt="0"/>
      <dgm:spPr/>
    </dgm:pt>
    <dgm:pt modelId="{79B52BD4-A8F2-4EC9-908A-2CFA8D776C6D}" type="pres">
      <dgm:prSet presAssocID="{84AFBE3B-92AB-4A6E-9094-AACB20FC6908}" presName="parentLeftMargin" presStyleLbl="node1" presStyleIdx="1" presStyleCnt="3"/>
      <dgm:spPr/>
    </dgm:pt>
    <dgm:pt modelId="{DB891787-B590-477D-8008-2C04D26B6136}" type="pres">
      <dgm:prSet presAssocID="{84AFBE3B-92AB-4A6E-9094-AACB20FC690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CC2E3E4-BEBA-474A-9083-7EEA0625078E}" type="pres">
      <dgm:prSet presAssocID="{84AFBE3B-92AB-4A6E-9094-AACB20FC6908}" presName="negativeSpace" presStyleCnt="0"/>
      <dgm:spPr/>
    </dgm:pt>
    <dgm:pt modelId="{B88EFC84-3EF7-4700-9C7C-D4E9D5AA53B1}" type="pres">
      <dgm:prSet presAssocID="{84AFBE3B-92AB-4A6E-9094-AACB20FC690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E163716-8FE8-4C6E-99EB-3BE54FE68C48}" type="presOf" srcId="{84AFBE3B-92AB-4A6E-9094-AACB20FC6908}" destId="{DB891787-B590-477D-8008-2C04D26B6136}" srcOrd="1" destOrd="0" presId="urn:microsoft.com/office/officeart/2005/8/layout/list1"/>
    <dgm:cxn modelId="{0B3AC91A-C7B4-419E-A967-D88A5209B341}" type="presOf" srcId="{F84055A8-B4EC-4B90-989B-A2E2B9296E8D}" destId="{C749BAA2-3810-416B-A804-8FE2742972B0}" srcOrd="0" destOrd="0" presId="urn:microsoft.com/office/officeart/2005/8/layout/list1"/>
    <dgm:cxn modelId="{7D2FA422-E9E9-43E1-B55F-D25D0A266F00}" srcId="{88E9A087-4B18-4400-9DF8-9CCF742600A0}" destId="{F84055A8-B4EC-4B90-989B-A2E2B9296E8D}" srcOrd="0" destOrd="0" parTransId="{436085B0-D839-4EA6-89D4-E3D4511AC1C0}" sibTransId="{FA767A97-760D-477B-A43F-5CBC5109BAEF}"/>
    <dgm:cxn modelId="{8A0B7C2B-5CE5-437D-AFE8-EAC0B26AE09C}" srcId="{F84055A8-B4EC-4B90-989B-A2E2B9296E8D}" destId="{2987590A-A424-4D8B-9C73-E22B8B53F90E}" srcOrd="1" destOrd="0" parTransId="{73CA0934-3ABD-4AD4-9691-9FB7BF328091}" sibTransId="{D56301EB-1EC2-4A31-BBC1-CD0F6E5CC3CA}"/>
    <dgm:cxn modelId="{0436B039-77DC-4991-8D1B-4FBFDBD4CD25}" type="presOf" srcId="{27C5A159-5534-438D-A5B6-3558F2F201F5}" destId="{CE216D96-2F66-4C36-B25D-7760A1E26BB8}" srcOrd="1" destOrd="0" presId="urn:microsoft.com/office/officeart/2005/8/layout/list1"/>
    <dgm:cxn modelId="{4601BE42-2F9A-41BE-ACCE-903BFCF67F3C}" type="presOf" srcId="{27C5A159-5534-438D-A5B6-3558F2F201F5}" destId="{6C68D967-5E3E-484F-8B02-C839DBF9ADCF}" srcOrd="0" destOrd="0" presId="urn:microsoft.com/office/officeart/2005/8/layout/list1"/>
    <dgm:cxn modelId="{6EE5CD65-0925-43BC-BD8C-8F6C02E627B3}" srcId="{27C5A159-5534-438D-A5B6-3558F2F201F5}" destId="{2D257A63-68F1-4375-BA98-A06E7BA089DD}" srcOrd="1" destOrd="0" parTransId="{13DFB291-422F-4BD7-AA34-AC35EE77BDB1}" sibTransId="{30AAB677-B289-4DF1-8B02-E41B78D7D72E}"/>
    <dgm:cxn modelId="{BCFD424A-BF7D-4D81-B991-0B0E333906C2}" type="presOf" srcId="{F84055A8-B4EC-4B90-989B-A2E2B9296E8D}" destId="{1F0A0C24-9989-4238-AC7A-FB8218D86791}" srcOrd="1" destOrd="0" presId="urn:microsoft.com/office/officeart/2005/8/layout/list1"/>
    <dgm:cxn modelId="{B74A6C4D-7BC1-4501-8A87-7B9720F4E53A}" type="presOf" srcId="{3D45EC43-3AC4-47D1-8E33-E8891A94692F}" destId="{C9FC76F4-DD74-482B-BC66-7677119B39E6}" srcOrd="0" destOrd="0" presId="urn:microsoft.com/office/officeart/2005/8/layout/list1"/>
    <dgm:cxn modelId="{1CBAB36E-7A2F-4967-AF9E-90AA4BD31232}" type="presOf" srcId="{88E9A087-4B18-4400-9DF8-9CCF742600A0}" destId="{56AAA6B7-67E8-417C-BB8D-D802212691DD}" srcOrd="0" destOrd="0" presId="urn:microsoft.com/office/officeart/2005/8/layout/list1"/>
    <dgm:cxn modelId="{B89E9474-44C7-4AC3-B9A9-25B2579FAC90}" srcId="{84AFBE3B-92AB-4A6E-9094-AACB20FC6908}" destId="{00973FFA-328E-4A6C-8388-EC6EC4B33F95}" srcOrd="0" destOrd="0" parTransId="{57996A38-0C14-4154-809A-F6626531CD30}" sibTransId="{718E4A24-ED3B-48C2-9945-3F4605AF0BC6}"/>
    <dgm:cxn modelId="{2850097C-3102-40BC-9531-BFC161D79E1A}" srcId="{27C5A159-5534-438D-A5B6-3558F2F201F5}" destId="{3D45EC43-3AC4-47D1-8E33-E8891A94692F}" srcOrd="0" destOrd="0" parTransId="{50CF57A9-7B76-446F-BAD2-51D3E98605B8}" sibTransId="{A7F648BE-0BD9-4176-AC5A-6BC0C026542B}"/>
    <dgm:cxn modelId="{18686A81-4F9C-4602-B0AE-32187CBEAA2A}" type="presOf" srcId="{185F74D3-7D94-4CA5-84C9-750C21125CA2}" destId="{6A5B3419-EDD1-43D1-A269-F8A60A0FA5ED}" srcOrd="0" destOrd="0" presId="urn:microsoft.com/office/officeart/2005/8/layout/list1"/>
    <dgm:cxn modelId="{08AEFB8B-4180-443C-A505-CB6CA6658877}" type="presOf" srcId="{2987590A-A424-4D8B-9C73-E22B8B53F90E}" destId="{6A5B3419-EDD1-43D1-A269-F8A60A0FA5ED}" srcOrd="0" destOrd="1" presId="urn:microsoft.com/office/officeart/2005/8/layout/list1"/>
    <dgm:cxn modelId="{FE720CAE-88A7-48B0-A899-72094EA5A7B0}" srcId="{88E9A087-4B18-4400-9DF8-9CCF742600A0}" destId="{27C5A159-5534-438D-A5B6-3558F2F201F5}" srcOrd="1" destOrd="0" parTransId="{00297C16-5810-4667-9E8F-CB26A898863A}" sibTransId="{877BD717-11C9-41D2-A69C-22622F36105F}"/>
    <dgm:cxn modelId="{9E4CFFB4-13B7-414D-BC45-AC6E6EB1D9E0}" type="presOf" srcId="{84AFBE3B-92AB-4A6E-9094-AACB20FC6908}" destId="{79B52BD4-A8F2-4EC9-908A-2CFA8D776C6D}" srcOrd="0" destOrd="0" presId="urn:microsoft.com/office/officeart/2005/8/layout/list1"/>
    <dgm:cxn modelId="{681120B6-5F81-4127-AC24-A65A25932A53}" srcId="{F84055A8-B4EC-4B90-989B-A2E2B9296E8D}" destId="{185F74D3-7D94-4CA5-84C9-750C21125CA2}" srcOrd="0" destOrd="0" parTransId="{7A5E6323-89B5-4919-90EA-C642582B48B3}" sibTransId="{0238EBAE-2354-46F5-AB06-8EBD25BE1E4C}"/>
    <dgm:cxn modelId="{F0D5DBCF-6282-4D59-8094-F32BAD0C7A00}" type="presOf" srcId="{2D257A63-68F1-4375-BA98-A06E7BA089DD}" destId="{C9FC76F4-DD74-482B-BC66-7677119B39E6}" srcOrd="0" destOrd="1" presId="urn:microsoft.com/office/officeart/2005/8/layout/list1"/>
    <dgm:cxn modelId="{B732C1D9-14CC-4E52-A740-6DDBDEC93FCC}" srcId="{88E9A087-4B18-4400-9DF8-9CCF742600A0}" destId="{84AFBE3B-92AB-4A6E-9094-AACB20FC6908}" srcOrd="2" destOrd="0" parTransId="{50859391-21E4-46D9-B400-B0E224529D27}" sibTransId="{75FD3AAB-ADF6-4B30-BC3E-ABEBB4AB343F}"/>
    <dgm:cxn modelId="{8C22B2EA-A399-49EA-9306-300CA0069EFC}" type="presOf" srcId="{00973FFA-328E-4A6C-8388-EC6EC4B33F95}" destId="{B88EFC84-3EF7-4700-9C7C-D4E9D5AA53B1}" srcOrd="0" destOrd="0" presId="urn:microsoft.com/office/officeart/2005/8/layout/list1"/>
    <dgm:cxn modelId="{4B80F584-31E3-4434-A6AB-0A57101DB684}" type="presParOf" srcId="{56AAA6B7-67E8-417C-BB8D-D802212691DD}" destId="{E6CA8D70-B864-4D14-A19D-854D8150B8E7}" srcOrd="0" destOrd="0" presId="urn:microsoft.com/office/officeart/2005/8/layout/list1"/>
    <dgm:cxn modelId="{550DCA81-82EB-43C9-8342-2E2055E19566}" type="presParOf" srcId="{E6CA8D70-B864-4D14-A19D-854D8150B8E7}" destId="{C749BAA2-3810-416B-A804-8FE2742972B0}" srcOrd="0" destOrd="0" presId="urn:microsoft.com/office/officeart/2005/8/layout/list1"/>
    <dgm:cxn modelId="{09609BD7-C244-4BD0-8450-F23F2B9D596C}" type="presParOf" srcId="{E6CA8D70-B864-4D14-A19D-854D8150B8E7}" destId="{1F0A0C24-9989-4238-AC7A-FB8218D86791}" srcOrd="1" destOrd="0" presId="urn:microsoft.com/office/officeart/2005/8/layout/list1"/>
    <dgm:cxn modelId="{47A6FF48-7173-4F26-B9A4-46F378C42B78}" type="presParOf" srcId="{56AAA6B7-67E8-417C-BB8D-D802212691DD}" destId="{AEBBAEE3-E99C-42CC-B295-84718E0922C9}" srcOrd="1" destOrd="0" presId="urn:microsoft.com/office/officeart/2005/8/layout/list1"/>
    <dgm:cxn modelId="{B569DC26-F146-4D15-99A5-CCEB68CDA636}" type="presParOf" srcId="{56AAA6B7-67E8-417C-BB8D-D802212691DD}" destId="{6A5B3419-EDD1-43D1-A269-F8A60A0FA5ED}" srcOrd="2" destOrd="0" presId="urn:microsoft.com/office/officeart/2005/8/layout/list1"/>
    <dgm:cxn modelId="{CB0EBA07-F91F-4254-98FD-2D32D4BFFEF4}" type="presParOf" srcId="{56AAA6B7-67E8-417C-BB8D-D802212691DD}" destId="{E2FBAB92-0A3A-4373-A7F4-996DB8BE682C}" srcOrd="3" destOrd="0" presId="urn:microsoft.com/office/officeart/2005/8/layout/list1"/>
    <dgm:cxn modelId="{9D4BCE24-6132-4AED-850C-E536BDBB7630}" type="presParOf" srcId="{56AAA6B7-67E8-417C-BB8D-D802212691DD}" destId="{9A10DC2F-55C8-4477-8FD7-6401102B0039}" srcOrd="4" destOrd="0" presId="urn:microsoft.com/office/officeart/2005/8/layout/list1"/>
    <dgm:cxn modelId="{BAA20943-53E6-4CE2-8FC4-45F531A9AAFF}" type="presParOf" srcId="{9A10DC2F-55C8-4477-8FD7-6401102B0039}" destId="{6C68D967-5E3E-484F-8B02-C839DBF9ADCF}" srcOrd="0" destOrd="0" presId="urn:microsoft.com/office/officeart/2005/8/layout/list1"/>
    <dgm:cxn modelId="{CA5BCB4E-2124-4208-8C56-63BADA579AD5}" type="presParOf" srcId="{9A10DC2F-55C8-4477-8FD7-6401102B0039}" destId="{CE216D96-2F66-4C36-B25D-7760A1E26BB8}" srcOrd="1" destOrd="0" presId="urn:microsoft.com/office/officeart/2005/8/layout/list1"/>
    <dgm:cxn modelId="{71B9248D-A0D4-451F-A92E-8C36D0258829}" type="presParOf" srcId="{56AAA6B7-67E8-417C-BB8D-D802212691DD}" destId="{B94A4A02-331F-40E6-A5A6-5B152CE8A82E}" srcOrd="5" destOrd="0" presId="urn:microsoft.com/office/officeart/2005/8/layout/list1"/>
    <dgm:cxn modelId="{1B3DEB1A-4511-44E0-BECB-6D6B595BEC03}" type="presParOf" srcId="{56AAA6B7-67E8-417C-BB8D-D802212691DD}" destId="{C9FC76F4-DD74-482B-BC66-7677119B39E6}" srcOrd="6" destOrd="0" presId="urn:microsoft.com/office/officeart/2005/8/layout/list1"/>
    <dgm:cxn modelId="{FC704C3F-0EE3-4A99-866C-5F7F524DB840}" type="presParOf" srcId="{56AAA6B7-67E8-417C-BB8D-D802212691DD}" destId="{8B46111C-012E-45FD-9C16-12ECC5A0C647}" srcOrd="7" destOrd="0" presId="urn:microsoft.com/office/officeart/2005/8/layout/list1"/>
    <dgm:cxn modelId="{6FA77454-8F62-4D2E-AFEE-BD2B2E7B5E7F}" type="presParOf" srcId="{56AAA6B7-67E8-417C-BB8D-D802212691DD}" destId="{E5E61A6E-91DB-4170-A388-6FEB4C80867A}" srcOrd="8" destOrd="0" presId="urn:microsoft.com/office/officeart/2005/8/layout/list1"/>
    <dgm:cxn modelId="{FE76517F-22D3-4B83-B322-C0A7FED1E9E7}" type="presParOf" srcId="{E5E61A6E-91DB-4170-A388-6FEB4C80867A}" destId="{79B52BD4-A8F2-4EC9-908A-2CFA8D776C6D}" srcOrd="0" destOrd="0" presId="urn:microsoft.com/office/officeart/2005/8/layout/list1"/>
    <dgm:cxn modelId="{BF8748D7-092A-4884-BC3D-7A5DE8F560C7}" type="presParOf" srcId="{E5E61A6E-91DB-4170-A388-6FEB4C80867A}" destId="{DB891787-B590-477D-8008-2C04D26B6136}" srcOrd="1" destOrd="0" presId="urn:microsoft.com/office/officeart/2005/8/layout/list1"/>
    <dgm:cxn modelId="{EFD6F3E3-3566-428F-9FBF-07EC5E2213B8}" type="presParOf" srcId="{56AAA6B7-67E8-417C-BB8D-D802212691DD}" destId="{CCC2E3E4-BEBA-474A-9083-7EEA0625078E}" srcOrd="9" destOrd="0" presId="urn:microsoft.com/office/officeart/2005/8/layout/list1"/>
    <dgm:cxn modelId="{95BB3607-91AB-4495-93E7-3989B5ED20FB}" type="presParOf" srcId="{56AAA6B7-67E8-417C-BB8D-D802212691DD}" destId="{B88EFC84-3EF7-4700-9C7C-D4E9D5AA53B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5B3419-EDD1-43D1-A269-F8A60A0FA5ED}">
      <dsp:nvSpPr>
        <dsp:cNvPr id="0" name=""/>
        <dsp:cNvSpPr/>
      </dsp:nvSpPr>
      <dsp:spPr>
        <a:xfrm>
          <a:off x="0" y="326236"/>
          <a:ext cx="5086131" cy="1502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4740" tIns="374904" rIns="394740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>
              <a:latin typeface="Arial"/>
              <a:ea typeface="Calibri"/>
              <a:cs typeface="Calibri"/>
            </a:rPr>
            <a:t>A type of format correspond to a type of information</a:t>
          </a:r>
          <a:endParaRPr lang="en-US" sz="1800" kern="1200" dirty="0">
            <a:latin typeface="Arial"/>
            <a:ea typeface="Calibri"/>
            <a:cs typeface="Calibri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>
              <a:latin typeface="Arial"/>
              <a:ea typeface="Calibri"/>
              <a:cs typeface="Calibri"/>
            </a:rPr>
            <a:t>Diversifying</a:t>
          </a:r>
          <a:r>
            <a:rPr lang="fr-FR" sz="1800" kern="1200" dirty="0">
              <a:latin typeface="Arial"/>
              <a:ea typeface="Calibri"/>
              <a:cs typeface="Calibri"/>
            </a:rPr>
            <a:t> formats to </a:t>
          </a:r>
          <a:r>
            <a:rPr lang="fr-FR" sz="1800" kern="1200" dirty="0" err="1">
              <a:latin typeface="Arial"/>
              <a:ea typeface="Calibri"/>
              <a:cs typeface="Calibri"/>
            </a:rPr>
            <a:t>vary</a:t>
          </a:r>
          <a:r>
            <a:rPr lang="fr-FR" sz="1800" kern="1200" dirty="0">
              <a:latin typeface="Arial"/>
              <a:ea typeface="Calibri"/>
              <a:cs typeface="Calibri"/>
            </a:rPr>
            <a:t> the angle of </a:t>
          </a:r>
          <a:r>
            <a:rPr lang="fr-FR" sz="1800" kern="1200" dirty="0" err="1">
              <a:latin typeface="Arial"/>
              <a:ea typeface="Calibri"/>
              <a:cs typeface="Calibri"/>
            </a:rPr>
            <a:t>analysis</a:t>
          </a:r>
          <a:endParaRPr lang="en-US" sz="1800" kern="1200" dirty="0">
            <a:latin typeface="Arial"/>
            <a:ea typeface="Calibri"/>
            <a:cs typeface="Calibri"/>
          </a:endParaRPr>
        </a:p>
      </dsp:txBody>
      <dsp:txXfrm>
        <a:off x="0" y="326236"/>
        <a:ext cx="5086131" cy="1502550"/>
      </dsp:txXfrm>
    </dsp:sp>
    <dsp:sp modelId="{1F0A0C24-9989-4238-AC7A-FB8218D86791}">
      <dsp:nvSpPr>
        <dsp:cNvPr id="0" name=""/>
        <dsp:cNvSpPr/>
      </dsp:nvSpPr>
      <dsp:spPr>
        <a:xfrm>
          <a:off x="254306" y="60556"/>
          <a:ext cx="3560291" cy="531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571" tIns="0" rIns="134571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 err="1">
              <a:latin typeface="Arial"/>
              <a:ea typeface="Calibri"/>
              <a:cs typeface="Calibri"/>
            </a:rPr>
            <a:t>Different</a:t>
          </a:r>
          <a:r>
            <a:rPr lang="fr-FR" sz="1800" kern="1200" dirty="0">
              <a:latin typeface="Arial"/>
              <a:ea typeface="Calibri"/>
              <a:cs typeface="Calibri"/>
            </a:rPr>
            <a:t> data formats</a:t>
          </a:r>
          <a:endParaRPr lang="en-US" sz="1800" kern="1200" dirty="0">
            <a:latin typeface="Arial"/>
            <a:ea typeface="Calibri"/>
            <a:cs typeface="Calibri"/>
          </a:endParaRPr>
        </a:p>
      </dsp:txBody>
      <dsp:txXfrm>
        <a:off x="280245" y="86495"/>
        <a:ext cx="3508413" cy="479482"/>
      </dsp:txXfrm>
    </dsp:sp>
    <dsp:sp modelId="{C9FC76F4-DD74-482B-BC66-7677119B39E6}">
      <dsp:nvSpPr>
        <dsp:cNvPr id="0" name=""/>
        <dsp:cNvSpPr/>
      </dsp:nvSpPr>
      <dsp:spPr>
        <a:xfrm>
          <a:off x="0" y="2191666"/>
          <a:ext cx="5086131" cy="1502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1494998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4740" tIns="374904" rIns="394740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>
              <a:latin typeface="Arial"/>
              <a:ea typeface="Calibri"/>
              <a:cs typeface="Calibri"/>
            </a:rPr>
            <a:t>Attaining</a:t>
          </a:r>
          <a:r>
            <a:rPr lang="fr-FR" sz="1800" kern="1200" dirty="0">
              <a:latin typeface="Arial"/>
              <a:ea typeface="Calibri"/>
              <a:cs typeface="Calibri"/>
            </a:rPr>
            <a:t> a </a:t>
          </a:r>
          <a:r>
            <a:rPr lang="fr-FR" sz="1800" kern="1200" dirty="0" err="1">
              <a:latin typeface="Arial"/>
              <a:ea typeface="Calibri"/>
              <a:cs typeface="Calibri"/>
            </a:rPr>
            <a:t>better</a:t>
          </a:r>
          <a:r>
            <a:rPr lang="fr-FR" sz="1800" kern="1200" dirty="0">
              <a:latin typeface="Arial"/>
              <a:ea typeface="Calibri"/>
              <a:cs typeface="Calibri"/>
            </a:rPr>
            <a:t> </a:t>
          </a:r>
          <a:r>
            <a:rPr lang="fr-FR" sz="1800" kern="1200" dirty="0" err="1">
              <a:latin typeface="Arial"/>
              <a:ea typeface="Calibri"/>
              <a:cs typeface="Calibri"/>
            </a:rPr>
            <a:t>represantation</a:t>
          </a:r>
          <a:r>
            <a:rPr lang="fr-FR" sz="1800" kern="1200" dirty="0">
              <a:latin typeface="Arial"/>
              <a:ea typeface="Calibri"/>
              <a:cs typeface="Calibri"/>
            </a:rPr>
            <a:t> of information</a:t>
          </a:r>
          <a:endParaRPr lang="en-US" sz="1800" kern="1200" dirty="0">
            <a:latin typeface="Arial"/>
            <a:ea typeface="Calibri"/>
            <a:cs typeface="Calibri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>
              <a:latin typeface="Arial"/>
              <a:ea typeface="Calibri"/>
              <a:cs typeface="Calibri"/>
            </a:rPr>
            <a:t>Depending</a:t>
          </a:r>
          <a:r>
            <a:rPr lang="fr-FR" sz="1800" kern="1200" dirty="0">
              <a:latin typeface="Arial"/>
              <a:ea typeface="Calibri"/>
              <a:cs typeface="Calibri"/>
            </a:rPr>
            <a:t> on the </a:t>
          </a:r>
          <a:r>
            <a:rPr lang="fr-FR" sz="1800" kern="1200" dirty="0" err="1">
              <a:latin typeface="Arial"/>
              <a:ea typeface="Calibri"/>
              <a:cs typeface="Calibri"/>
            </a:rPr>
            <a:t>origin</a:t>
          </a:r>
          <a:r>
            <a:rPr lang="fr-FR" sz="1800" kern="1200" dirty="0">
              <a:latin typeface="Arial"/>
              <a:ea typeface="Calibri"/>
              <a:cs typeface="Calibri"/>
            </a:rPr>
            <a:t>, concernes are not the same</a:t>
          </a:r>
        </a:p>
      </dsp:txBody>
      <dsp:txXfrm>
        <a:off x="0" y="2191666"/>
        <a:ext cx="5086131" cy="1502550"/>
      </dsp:txXfrm>
    </dsp:sp>
    <dsp:sp modelId="{CE216D96-2F66-4C36-B25D-7760A1E26BB8}">
      <dsp:nvSpPr>
        <dsp:cNvPr id="0" name=""/>
        <dsp:cNvSpPr/>
      </dsp:nvSpPr>
      <dsp:spPr>
        <a:xfrm>
          <a:off x="254306" y="1925986"/>
          <a:ext cx="3560291" cy="531360"/>
        </a:xfrm>
        <a:prstGeom prst="roundRect">
          <a:avLst/>
        </a:prstGeom>
        <a:solidFill>
          <a:schemeClr val="accent2">
            <a:hueOff val="1494998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571" tIns="0" rIns="13457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Arial"/>
              <a:ea typeface="Calibri"/>
              <a:cs typeface="Calibri"/>
            </a:rPr>
            <a:t>Origines variées</a:t>
          </a:r>
          <a:endParaRPr lang="en-US" sz="1800" kern="1200" dirty="0">
            <a:latin typeface="Arial"/>
            <a:ea typeface="Calibri"/>
            <a:cs typeface="Calibri"/>
          </a:endParaRPr>
        </a:p>
      </dsp:txBody>
      <dsp:txXfrm>
        <a:off x="280245" y="1951925"/>
        <a:ext cx="3508413" cy="479482"/>
      </dsp:txXfrm>
    </dsp:sp>
    <dsp:sp modelId="{B88EFC84-3EF7-4700-9C7C-D4E9D5AA53B1}">
      <dsp:nvSpPr>
        <dsp:cNvPr id="0" name=""/>
        <dsp:cNvSpPr/>
      </dsp:nvSpPr>
      <dsp:spPr>
        <a:xfrm>
          <a:off x="0" y="4057096"/>
          <a:ext cx="5086131" cy="127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2989997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4740" tIns="374904" rIns="394740" bIns="128016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800" kern="1200" dirty="0" err="1">
              <a:latin typeface="Arial"/>
              <a:ea typeface="Calibri"/>
              <a:cs typeface="Calibri"/>
            </a:rPr>
            <a:t>Having</a:t>
          </a:r>
          <a:r>
            <a:rPr lang="fr-FR" sz="1800" kern="1200" dirty="0">
              <a:latin typeface="Arial"/>
              <a:ea typeface="Calibri"/>
              <a:cs typeface="Calibri"/>
            </a:rPr>
            <a:t> a global but </a:t>
          </a:r>
          <a:r>
            <a:rPr lang="fr-FR" sz="1800" kern="1200" dirty="0" err="1">
              <a:latin typeface="Arial"/>
              <a:ea typeface="Calibri"/>
              <a:cs typeface="Calibri"/>
            </a:rPr>
            <a:t>also</a:t>
          </a:r>
          <a:r>
            <a:rPr lang="fr-FR" sz="1800" kern="1200" dirty="0">
              <a:latin typeface="Arial"/>
              <a:ea typeface="Calibri"/>
              <a:cs typeface="Calibri"/>
            </a:rPr>
            <a:t> local </a:t>
          </a:r>
          <a:r>
            <a:rPr lang="fr-FR" sz="1800" kern="1200" dirty="0" err="1">
              <a:latin typeface="Arial"/>
              <a:ea typeface="Calibri"/>
              <a:cs typeface="Calibri"/>
            </a:rPr>
            <a:t>pespective</a:t>
          </a:r>
          <a:r>
            <a:rPr lang="fr-FR" sz="1800" kern="1200" dirty="0">
              <a:latin typeface="Arial"/>
              <a:ea typeface="Calibri"/>
              <a:cs typeface="Calibri"/>
            </a:rPr>
            <a:t> on the topic of </a:t>
          </a:r>
          <a:r>
            <a:rPr lang="fr-FR" sz="1800" kern="1200" dirty="0" err="1">
              <a:latin typeface="Arial"/>
              <a:ea typeface="Calibri"/>
              <a:cs typeface="Calibri"/>
            </a:rPr>
            <a:t>interest</a:t>
          </a:r>
          <a:endParaRPr lang="en-US" sz="1800" kern="1200" dirty="0" err="1">
            <a:latin typeface="Arial"/>
            <a:ea typeface="Calibri"/>
            <a:cs typeface="Calibri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>
            <a:latin typeface="Calibri"/>
            <a:ea typeface="Calibri"/>
            <a:cs typeface="Calibri"/>
          </a:endParaRPr>
        </a:p>
      </dsp:txBody>
      <dsp:txXfrm>
        <a:off x="0" y="4057096"/>
        <a:ext cx="5086131" cy="1275750"/>
      </dsp:txXfrm>
    </dsp:sp>
    <dsp:sp modelId="{DB891787-B590-477D-8008-2C04D26B6136}">
      <dsp:nvSpPr>
        <dsp:cNvPr id="0" name=""/>
        <dsp:cNvSpPr/>
      </dsp:nvSpPr>
      <dsp:spPr>
        <a:xfrm>
          <a:off x="254306" y="3791416"/>
          <a:ext cx="3560291" cy="531360"/>
        </a:xfrm>
        <a:prstGeom prst="roundRect">
          <a:avLst/>
        </a:prstGeom>
        <a:solidFill>
          <a:schemeClr val="accent2">
            <a:hueOff val="2989997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4571" tIns="0" rIns="134571" bIns="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>
              <a:latin typeface="Arial"/>
              <a:ea typeface="Calibri"/>
              <a:cs typeface="Calibri"/>
            </a:rPr>
            <a:t>Diversity of </a:t>
          </a:r>
          <a:r>
            <a:rPr lang="fr-FR" sz="1800" kern="1200" dirty="0" err="1">
              <a:latin typeface="Arial"/>
              <a:ea typeface="Calibri"/>
              <a:cs typeface="Calibri"/>
            </a:rPr>
            <a:t>analysis</a:t>
          </a:r>
          <a:r>
            <a:rPr lang="fr-FR" sz="1800" kern="1200" dirty="0">
              <a:latin typeface="Arial"/>
              <a:ea typeface="Calibri"/>
              <a:cs typeface="Calibri"/>
            </a:rPr>
            <a:t> </a:t>
          </a:r>
          <a:r>
            <a:rPr lang="fr-FR" sz="1800" kern="1200" dirty="0" err="1">
              <a:latin typeface="Arial"/>
              <a:ea typeface="Calibri"/>
              <a:cs typeface="Calibri"/>
            </a:rPr>
            <a:t>levels</a:t>
          </a:r>
          <a:endParaRPr lang="en-US" sz="1800" kern="1200" dirty="0">
            <a:latin typeface="Arial"/>
            <a:ea typeface="Calibri"/>
            <a:cs typeface="Calibri"/>
          </a:endParaRPr>
        </a:p>
      </dsp:txBody>
      <dsp:txXfrm>
        <a:off x="280245" y="3817355"/>
        <a:ext cx="3508413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EDD46-4483-4EDE-A780-BEFC31DEC4A4}" type="datetimeFigureOut">
              <a:t>1/4/2024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9674A9-079E-4C5B-95A2-EBDABA55FE26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6853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Sources des </a:t>
            </a:r>
            <a:r>
              <a:rPr lang="en-US" err="1">
                <a:ea typeface="Calibri"/>
                <a:cs typeface="Calibri"/>
              </a:rPr>
              <a:t>graphiques</a:t>
            </a:r>
            <a:r>
              <a:rPr lang="en-US">
                <a:ea typeface="Calibri"/>
                <a:cs typeface="Calibri"/>
              </a:rPr>
              <a:t> : 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Image du haut : Hackenberger BK. Data by data, Big Data. Croat Med J. 2019 Jun 13;60(3):290-292. </a:t>
            </a:r>
            <a:r>
              <a:rPr lang="en-US" err="1"/>
              <a:t>doi</a:t>
            </a:r>
            <a:r>
              <a:rPr lang="en-US"/>
              <a:t>: 10.3325/cmj.2019.60.290. PMID: 31187958; PMCID: PMC6563174.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IA </a:t>
            </a:r>
            <a:r>
              <a:rPr lang="en-US" err="1">
                <a:ea typeface="Calibri"/>
                <a:cs typeface="Calibri"/>
              </a:rPr>
              <a:t>générative</a:t>
            </a:r>
            <a:r>
              <a:rPr lang="en-US">
                <a:ea typeface="Calibri"/>
                <a:cs typeface="Calibri"/>
              </a:rPr>
              <a:t> de Bing, prompts : "Les trois V de la Big Data" et "Un dashboard </a:t>
            </a:r>
            <a:r>
              <a:rPr lang="en-US" err="1">
                <a:ea typeface="Calibri"/>
                <a:cs typeface="Calibri"/>
              </a:rPr>
              <a:t>analysant</a:t>
            </a:r>
            <a:r>
              <a:rPr lang="en-US">
                <a:ea typeface="Calibri"/>
                <a:cs typeface="Calibri"/>
              </a:rPr>
              <a:t> des Big Data"</a:t>
            </a: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D5882A-810A-494C-AF7A-49522011FEDB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6185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41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30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94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18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91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32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7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252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3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65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26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 Contenu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1589D570-F80B-0D73-BF94-308AB880E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977" y="1144565"/>
            <a:ext cx="9962145" cy="49883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AFED6BBF-AD13-2C8F-FB32-181F01B98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Image 3" descr="Une image contenant capture d’écran, noir, obscurité&#10;&#10;Description générée automatiquement">
            <a:extLst>
              <a:ext uri="{FF2B5EF4-FFF2-40B4-BE49-F238E27FC236}">
                <a16:creationId xmlns:a16="http://schemas.microsoft.com/office/drawing/2014/main" id="{639559D3-EB48-CAD2-1E28-3D4A85F1EB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r="93676" b="85912"/>
          <a:stretch/>
        </p:blipFill>
        <p:spPr>
          <a:xfrm>
            <a:off x="0" y="0"/>
            <a:ext cx="770977" cy="966158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CD890FEB-8D8C-352C-D653-9B9BEA53B95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0977" y="237089"/>
            <a:ext cx="11171641" cy="626691"/>
          </a:xfrm>
        </p:spPr>
        <p:txBody>
          <a:bodyPr anchor="b">
            <a:normAutofit/>
          </a:bodyPr>
          <a:lstStyle>
            <a:lvl1pPr algn="l">
              <a:defRPr sz="2800" b="1" i="0">
                <a:solidFill>
                  <a:schemeClr val="tx1">
                    <a:lumMod val="85000"/>
                    <a:lumOff val="15000"/>
                  </a:schemeClr>
                </a:solidFill>
                <a:latin typeface="Mulish" pitchFamily="2" charset="77"/>
                <a:cs typeface="Prompt" pitchFamily="2" charset="-34"/>
              </a:defRPr>
            </a:lvl1pPr>
          </a:lstStyle>
          <a:p>
            <a:r>
              <a:rPr lang="fr-FR"/>
              <a:t>Modifier ici titre slide </a:t>
            </a:r>
            <a:r>
              <a:rPr lang="fr-FR" err="1"/>
              <a:t>bulletpoint</a:t>
            </a:r>
            <a:r>
              <a:rPr lang="fr-FR"/>
              <a:t> – bleu pétrole</a:t>
            </a:r>
          </a:p>
        </p:txBody>
      </p:sp>
    </p:spTree>
    <p:extLst>
      <p:ext uri="{BB962C8B-B14F-4D97-AF65-F5344CB8AC3E}">
        <p14:creationId xmlns:p14="http://schemas.microsoft.com/office/powerpoint/2010/main" val="22343065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capture d’écran, noir, obscurité&#10;&#10;Description générée automatiquement">
            <a:extLst>
              <a:ext uri="{FF2B5EF4-FFF2-40B4-BE49-F238E27FC236}">
                <a16:creationId xmlns:a16="http://schemas.microsoft.com/office/drawing/2014/main" id="{A2A8BC9C-F59E-DE83-1126-566004E7FB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82D4F4A-4442-4997-92B5-7690E3FFC2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3585469"/>
          </a:xfrm>
        </p:spPr>
        <p:txBody>
          <a:bodyPr anchor="ctr"/>
          <a:lstStyle>
            <a:lvl1pPr algn="ctr">
              <a:defRPr sz="6000" b="1" i="0">
                <a:solidFill>
                  <a:srgbClr val="009FE3"/>
                </a:solidFill>
                <a:latin typeface="Mulish" pitchFamily="2" charset="77"/>
                <a:cs typeface="Prompt" pitchFamily="2" charset="-34"/>
              </a:defRPr>
            </a:lvl1pPr>
          </a:lstStyle>
          <a:p>
            <a:r>
              <a:rPr lang="fr-FR"/>
              <a:t>Modifier le style titre</a:t>
            </a:r>
            <a:br>
              <a:rPr lang="fr-FR"/>
            </a:br>
            <a:r>
              <a:rPr lang="fr-FR"/>
              <a:t>de grand chapitre ici</a:t>
            </a:r>
          </a:p>
        </p:txBody>
      </p:sp>
    </p:spTree>
    <p:extLst>
      <p:ext uri="{BB962C8B-B14F-4D97-AF65-F5344CB8AC3E}">
        <p14:creationId xmlns:p14="http://schemas.microsoft.com/office/powerpoint/2010/main" val="240918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Visage humain, capture d’écran, habits, personne&#10;&#10;Description générée automatiquement">
            <a:extLst>
              <a:ext uri="{FF2B5EF4-FFF2-40B4-BE49-F238E27FC236}">
                <a16:creationId xmlns:a16="http://schemas.microsoft.com/office/drawing/2014/main" id="{0D8B2C3A-14AF-0DCD-4979-83A7D2D67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0C762CA4-D8C1-3922-B80C-D0088C67CB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35564" y="1825625"/>
            <a:ext cx="8518236" cy="4351338"/>
          </a:xfrm>
          <a:prstGeom prst="rect">
            <a:avLst/>
          </a:prstGeom>
        </p:spPr>
        <p:txBody>
          <a:bodyPr vert="horz" lIns="91440" tIns="45720" rIns="91440" bIns="45720" numCol="2" spcCol="36000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498802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 Diapositive d'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Bleu électrique, capture d’écran, Police, bleu&#10;&#10;Description générée automatiquement">
            <a:extLst>
              <a:ext uri="{FF2B5EF4-FFF2-40B4-BE49-F238E27FC236}">
                <a16:creationId xmlns:a16="http://schemas.microsoft.com/office/drawing/2014/main" id="{A580F908-FA0F-2175-7978-17519F7DEB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285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1/4/2024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355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65" r:id="rId6"/>
    <p:sldLayoutId id="2147483761" r:id="rId7"/>
    <p:sldLayoutId id="2147483762" r:id="rId8"/>
    <p:sldLayoutId id="2147483763" r:id="rId9"/>
    <p:sldLayoutId id="2147483764" r:id="rId10"/>
    <p:sldLayoutId id="2147483766" r:id="rId11"/>
    <p:sldLayoutId id="2147483773" r:id="rId12"/>
    <p:sldLayoutId id="2147483774" r:id="rId13"/>
    <p:sldLayoutId id="2147483775" r:id="rId14"/>
    <p:sldLayoutId id="2147483776" r:id="rId15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B_563EC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2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llesavivre.fr/" TargetMode="External"/><Relationship Id="rId7" Type="http://schemas.openxmlformats.org/officeDocument/2006/relationships/image" Target="../media/image23.png"/><Relationship Id="rId2" Type="http://schemas.openxmlformats.org/officeDocument/2006/relationships/hyperlink" Target="https://www.gapminder.org/tools/#$chart-type=bubbles&amp;url=v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hyperlink" Target="https://www.numbeo.com/cost-of-living/" TargetMode="External"/><Relationship Id="rId4" Type="http://schemas.openxmlformats.org/officeDocument/2006/relationships/hyperlink" Target="https://data.ameli.fr/pages/data-pathologi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6" name="Rectangle 155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30" name="Picture 3" descr="Une image contenant bâtiment, maison&#10;&#10;Description générée automatiquement">
            <a:extLst>
              <a:ext uri="{FF2B5EF4-FFF2-40B4-BE49-F238E27FC236}">
                <a16:creationId xmlns:a16="http://schemas.microsoft.com/office/drawing/2014/main" id="{4CE2857A-DE82-5675-4CA5-C8923055362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sp>
        <p:nvSpPr>
          <p:cNvPr id="160" name="Rectangle 159">
            <a:extLst>
              <a:ext uri="{FF2B5EF4-FFF2-40B4-BE49-F238E27FC236}">
                <a16:creationId xmlns:a16="http://schemas.microsoft.com/office/drawing/2014/main" id="{F23DAFF7-4C98-4E0E-8986-198D54B6C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0" y="0"/>
            <a:ext cx="6858000" cy="6858000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0">
                <a:schemeClr val="tx1"/>
              </a:gs>
              <a:gs pos="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5654" y="4456143"/>
            <a:ext cx="4958128" cy="17650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en-US" sz="2200">
              <a:solidFill>
                <a:srgbClr val="FFFFFF"/>
              </a:solidFill>
            </a:endParaRPr>
          </a:p>
          <a:p>
            <a:pPr algn="l"/>
            <a:endParaRPr lang="en-US" sz="2200">
              <a:solidFill>
                <a:srgbClr val="FFFFFF"/>
              </a:solidFill>
              <a:cs typeface="Calibri"/>
            </a:endParaRPr>
          </a:p>
        </p:txBody>
      </p:sp>
      <p:grpSp>
        <p:nvGrpSpPr>
          <p:cNvPr id="162" name="Top Left">
            <a:extLst>
              <a:ext uri="{FF2B5EF4-FFF2-40B4-BE49-F238E27FC236}">
                <a16:creationId xmlns:a16="http://schemas.microsoft.com/office/drawing/2014/main" id="{18579DB9-24B0-487B-81E3-8D02AD5F8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7180CB2C-161F-4538-9214-24AF97B01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E25AFBE-8731-4348-B66F-FD7E38F76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5F6C27D8-4E47-470F-B6B5-407CE7D1D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66348964-B561-445E-A6A4-730FBA428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C5D1A3FD-B031-4670-8F09-29E8E38D45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0BD3287-1860-4987-8CA5-8728EDBB6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E1FEEEA6-82B5-4005-A3D5-FC2A152FD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71" name="Bottom Right">
            <a:extLst>
              <a:ext uri="{FF2B5EF4-FFF2-40B4-BE49-F238E27FC236}">
                <a16:creationId xmlns:a16="http://schemas.microsoft.com/office/drawing/2014/main" id="{8F281804-17FE-49B9-9065-1A44CD473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72" name="Graphic 157">
              <a:extLst>
                <a:ext uri="{FF2B5EF4-FFF2-40B4-BE49-F238E27FC236}">
                  <a16:creationId xmlns:a16="http://schemas.microsoft.com/office/drawing/2014/main" id="{737BB70B-7AAF-4229-8400-5AFF12A23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9B992201-AA48-4BE7-ADC2-908B16934F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840E3649-4ED2-4501-AF92-DEC3DFF5C8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68B38FD5-4195-4693-8AB7-D01C58D21E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F0635352-3FD2-43A8-832C-705F1CB917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FBEAF61E-74F7-41BA-9576-39B196150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AB31D9B5-1401-4F40-BEE6-D492919954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8EDD38F5-BC63-401D-8C72-8D41A360A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5CE5B18-7300-438F-80EB-4F4E431C8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60EFF203-6FF5-0E40-E449-D2095A711B64}"/>
              </a:ext>
            </a:extLst>
          </p:cNvPr>
          <p:cNvSpPr txBox="1"/>
          <p:nvPr/>
        </p:nvSpPr>
        <p:spPr>
          <a:xfrm>
            <a:off x="107323" y="831760"/>
            <a:ext cx="5688169" cy="25355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220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74A2EC69-6470-0461-7380-AC02F0FDC9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4000" dirty="0">
                <a:latin typeface="Arial"/>
                <a:cs typeface="Prompt"/>
              </a:rPr>
              <a:t>Big Data 101</a:t>
            </a:r>
            <a:endParaRPr lang="fr-FR" sz="4000" dirty="0">
              <a:latin typeface="Arial"/>
            </a:endParaRPr>
          </a:p>
        </p:txBody>
      </p:sp>
      <p:sp>
        <p:nvSpPr>
          <p:cNvPr id="4" name="Espace réservé du contenu 1">
            <a:extLst>
              <a:ext uri="{FF2B5EF4-FFF2-40B4-BE49-F238E27FC236}">
                <a16:creationId xmlns:a16="http://schemas.microsoft.com/office/drawing/2014/main" id="{11600B46-3E9F-771D-54F7-1F29925C4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177" y="863949"/>
            <a:ext cx="6416305" cy="564658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fr-FR" sz="2400" dirty="0">
              <a:ea typeface="+mn-lt"/>
              <a:cs typeface="+mn-lt"/>
            </a:endParaRPr>
          </a:p>
          <a:p>
            <a:pPr marL="342900" indent="-342900"/>
            <a:r>
              <a:rPr lang="fr-FR" sz="2000" b="1" dirty="0">
                <a:solidFill>
                  <a:srgbClr val="374151"/>
                </a:solidFill>
                <a:ea typeface="+mn-lt"/>
                <a:cs typeface="+mn-lt"/>
              </a:rPr>
              <a:t>Big Data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can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be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defined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as data or information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characterized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by a </a:t>
            </a:r>
            <a:r>
              <a:rPr lang="fr-FR" sz="2000" b="1" dirty="0">
                <a:solidFill>
                  <a:srgbClr val="374151"/>
                </a:solidFill>
                <a:ea typeface="+mn-lt"/>
                <a:cs typeface="+mn-lt"/>
              </a:rPr>
              <a:t>Volume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, </a:t>
            </a:r>
            <a:r>
              <a:rPr lang="fr-FR" sz="2000" b="1" dirty="0">
                <a:solidFill>
                  <a:srgbClr val="374151"/>
                </a:solidFill>
                <a:ea typeface="+mn-lt"/>
                <a:cs typeface="+mn-lt"/>
              </a:rPr>
              <a:t>Velocity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, and </a:t>
            </a:r>
            <a:r>
              <a:rPr lang="fr-FR" sz="2000" b="1" dirty="0" err="1">
                <a:solidFill>
                  <a:srgbClr val="374151"/>
                </a:solidFill>
                <a:ea typeface="+mn-lt"/>
                <a:cs typeface="+mn-lt"/>
              </a:rPr>
              <a:t>Variety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so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significant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/high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that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they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require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specific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technologies and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analysis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methods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to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transform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them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</a:t>
            </a:r>
            <a:r>
              <a:rPr lang="fr-FR" sz="2000" dirty="0" err="1">
                <a:solidFill>
                  <a:srgbClr val="374151"/>
                </a:solidFill>
                <a:ea typeface="+mn-lt"/>
                <a:cs typeface="+mn-lt"/>
              </a:rPr>
              <a:t>into</a:t>
            </a:r>
            <a:r>
              <a:rPr lang="fr-FR" sz="2000" dirty="0">
                <a:solidFill>
                  <a:srgbClr val="374151"/>
                </a:solidFill>
                <a:ea typeface="+mn-lt"/>
                <a:cs typeface="+mn-lt"/>
              </a:rPr>
              <a:t> value</a:t>
            </a:r>
            <a:endParaRPr lang="fr-FR" sz="2000" dirty="0">
              <a:solidFill>
                <a:srgbClr val="222C3B"/>
              </a:solidFill>
              <a:ea typeface="+mn-lt"/>
              <a:cs typeface="+mn-lt"/>
            </a:endParaRPr>
          </a:p>
          <a:p>
            <a:pPr marL="342900" indent="-342900"/>
            <a:endParaRPr lang="fr-FR" sz="2000" dirty="0">
              <a:ea typeface="+mn-lt"/>
              <a:cs typeface="+mn-lt"/>
            </a:endParaRPr>
          </a:p>
          <a:p>
            <a:r>
              <a:rPr lang="fr-FR" sz="2000" dirty="0" err="1">
                <a:ea typeface="+mn-lt"/>
                <a:cs typeface="+mn-lt"/>
              </a:rPr>
              <a:t>Other</a:t>
            </a:r>
            <a:r>
              <a:rPr lang="fr-FR" sz="2000" dirty="0">
                <a:ea typeface="+mn-lt"/>
                <a:cs typeface="+mn-lt"/>
              </a:rPr>
              <a:t> "</a:t>
            </a:r>
            <a:r>
              <a:rPr lang="fr-FR" sz="2000" dirty="0" err="1">
                <a:ea typeface="+mn-lt"/>
                <a:cs typeface="+mn-lt"/>
              </a:rPr>
              <a:t>V's</a:t>
            </a:r>
            <a:r>
              <a:rPr lang="fr-FR" sz="2000" dirty="0">
                <a:ea typeface="+mn-lt"/>
                <a:cs typeface="+mn-lt"/>
              </a:rPr>
              <a:t>" : </a:t>
            </a:r>
          </a:p>
          <a:p>
            <a:pPr lvl="1"/>
            <a:r>
              <a:rPr lang="fr-FR" sz="2000" b="1" dirty="0" err="1">
                <a:ea typeface="+mn-lt"/>
                <a:cs typeface="+mn-lt"/>
              </a:rPr>
              <a:t>Variability</a:t>
            </a:r>
            <a:endParaRPr lang="fr-FR" sz="2000" dirty="0">
              <a:ea typeface="+mn-lt"/>
              <a:cs typeface="+mn-lt"/>
            </a:endParaRPr>
          </a:p>
          <a:p>
            <a:pPr lvl="1"/>
            <a:r>
              <a:rPr lang="fr-FR" sz="2000" b="1" dirty="0" err="1">
                <a:ea typeface="+mn-lt"/>
                <a:cs typeface="+mn-lt"/>
              </a:rPr>
              <a:t>Veracity</a:t>
            </a:r>
            <a:endParaRPr lang="fr-FR" sz="2000" dirty="0">
              <a:ea typeface="+mn-lt"/>
              <a:cs typeface="+mn-lt"/>
            </a:endParaRPr>
          </a:p>
          <a:p>
            <a:pPr lvl="1"/>
            <a:r>
              <a:rPr lang="fr-FR" sz="2000" dirty="0">
                <a:ea typeface="+mn-lt"/>
                <a:cs typeface="+mn-lt"/>
              </a:rPr>
              <a:t> </a:t>
            </a:r>
            <a:r>
              <a:rPr lang="fr-FR" sz="2000" b="1" dirty="0">
                <a:ea typeface="+mn-lt"/>
                <a:cs typeface="+mn-lt"/>
              </a:rPr>
              <a:t>Visualisation</a:t>
            </a:r>
            <a:endParaRPr lang="fr-FR" sz="2000" dirty="0">
              <a:ea typeface="+mn-lt"/>
              <a:cs typeface="+mn-lt"/>
            </a:endParaRPr>
          </a:p>
          <a:p>
            <a:pPr lvl="1"/>
            <a:r>
              <a:rPr lang="fr-FR" sz="2000" dirty="0">
                <a:ea typeface="+mn-lt"/>
                <a:cs typeface="+mn-lt"/>
              </a:rPr>
              <a:t> </a:t>
            </a:r>
            <a:r>
              <a:rPr lang="fr-FR" sz="2000" b="1" dirty="0">
                <a:ea typeface="+mn-lt"/>
                <a:cs typeface="+mn-lt"/>
              </a:rPr>
              <a:t>Value</a:t>
            </a:r>
            <a:endParaRPr lang="fr-FR" sz="2000" dirty="0">
              <a:ea typeface="Calibri" panose="020F0502020204030204"/>
              <a:cs typeface="Calibri"/>
            </a:endParaRPr>
          </a:p>
          <a:p>
            <a:pPr lvl="1"/>
            <a:endParaRPr lang="fr-FR" sz="2000" b="1" dirty="0">
              <a:ea typeface="+mn-lt"/>
              <a:cs typeface="+mn-lt"/>
            </a:endParaRPr>
          </a:p>
          <a:p>
            <a:r>
              <a:rPr lang="fr-FR" sz="2000" dirty="0">
                <a:ea typeface="+mn-lt"/>
                <a:cs typeface="+mn-lt"/>
              </a:rPr>
              <a:t>2.5 Trillions of Data Bytes </a:t>
            </a:r>
            <a:r>
              <a:rPr lang="fr-FR" sz="2000" dirty="0" err="1">
                <a:ea typeface="+mn-lt"/>
                <a:cs typeface="+mn-lt"/>
              </a:rPr>
              <a:t>created</a:t>
            </a:r>
            <a:r>
              <a:rPr lang="fr-FR" sz="2000" dirty="0">
                <a:ea typeface="+mn-lt"/>
                <a:cs typeface="+mn-lt"/>
              </a:rPr>
              <a:t> </a:t>
            </a:r>
            <a:r>
              <a:rPr lang="fr-FR" sz="2000" dirty="0" err="1">
                <a:ea typeface="+mn-lt"/>
                <a:cs typeface="+mn-lt"/>
              </a:rPr>
              <a:t>each</a:t>
            </a:r>
            <a:r>
              <a:rPr lang="fr-FR" sz="2000" dirty="0">
                <a:ea typeface="+mn-lt"/>
                <a:cs typeface="+mn-lt"/>
              </a:rPr>
              <a:t> </a:t>
            </a:r>
            <a:r>
              <a:rPr lang="fr-FR" sz="2000" dirty="0" err="1">
                <a:ea typeface="+mn-lt"/>
                <a:cs typeface="+mn-lt"/>
              </a:rPr>
              <a:t>days</a:t>
            </a:r>
            <a:endParaRPr lang="fr-FR" sz="2000" dirty="0">
              <a:ea typeface="+mn-lt"/>
              <a:cs typeface="+mn-lt"/>
            </a:endParaRPr>
          </a:p>
          <a:p>
            <a:endParaRPr lang="fr-FR" sz="2000" dirty="0">
              <a:ea typeface="Calibri" panose="020F0502020204030204"/>
              <a:cs typeface="Calibri"/>
            </a:endParaRPr>
          </a:p>
          <a:p>
            <a:pPr marL="342900" indent="-342900"/>
            <a:endParaRPr lang="fr-FR" sz="2000" dirty="0">
              <a:ea typeface="Calibri" panose="020F0502020204030204"/>
              <a:cs typeface="Calibri"/>
            </a:endParaRPr>
          </a:p>
        </p:txBody>
      </p:sp>
      <p:pic>
        <p:nvPicPr>
          <p:cNvPr id="5" name="Image 4" descr="Une image contenant texte, fournitures de bureau, outil d’écriture, papeterie&#10;&#10;Description générée automatiquement">
            <a:extLst>
              <a:ext uri="{FF2B5EF4-FFF2-40B4-BE49-F238E27FC236}">
                <a16:creationId xmlns:a16="http://schemas.microsoft.com/office/drawing/2014/main" id="{2353C1C5-061E-FB82-1D1A-16F8BEECD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0369" y="3902442"/>
            <a:ext cx="2372289" cy="24942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Image 5" descr="Une image contenant texte, capture d’écran, Police, nombre&#10;&#10;Description générée automatiquement">
            <a:extLst>
              <a:ext uri="{FF2B5EF4-FFF2-40B4-BE49-F238E27FC236}">
                <a16:creationId xmlns:a16="http://schemas.microsoft.com/office/drawing/2014/main" id="{7571BDF2-55A5-4BC4-A581-155717612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7632" y="114765"/>
            <a:ext cx="4410971" cy="302152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16385A8-C34E-4DB4-DFC7-A27F4743ED77}"/>
              </a:ext>
            </a:extLst>
          </p:cNvPr>
          <p:cNvSpPr txBox="1"/>
          <p:nvPr/>
        </p:nvSpPr>
        <p:spPr>
          <a:xfrm>
            <a:off x="7165340" y="3235960"/>
            <a:ext cx="4775200" cy="3794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i="1">
                <a:ea typeface="+mn-lt"/>
                <a:cs typeface="+mn-lt"/>
              </a:rPr>
              <a:t>Data by data, Big Data</a:t>
            </a:r>
            <a:r>
              <a:rPr lang="fr-FR">
                <a:ea typeface="+mn-lt"/>
                <a:cs typeface="+mn-lt"/>
              </a:rPr>
              <a:t>. </a:t>
            </a:r>
            <a:r>
              <a:rPr lang="fr-FR" err="1">
                <a:ea typeface="+mn-lt"/>
                <a:cs typeface="+mn-lt"/>
              </a:rPr>
              <a:t>Hackenberger</a:t>
            </a:r>
            <a:r>
              <a:rPr lang="fr-FR">
                <a:ea typeface="+mn-lt"/>
                <a:cs typeface="+mn-lt"/>
              </a:rPr>
              <a:t>, 2019.</a:t>
            </a:r>
            <a:endParaRPr lang="fr-FR">
              <a:ea typeface="Calibri"/>
              <a:cs typeface="Calibri"/>
            </a:endParaRPr>
          </a:p>
        </p:txBody>
      </p:sp>
      <p:pic>
        <p:nvPicPr>
          <p:cNvPr id="8" name="Image 7" descr="Une image contenant texte, dessin, croquis, art&#10;&#10;Description générée automatiquement">
            <a:extLst>
              <a:ext uri="{FF2B5EF4-FFF2-40B4-BE49-F238E27FC236}">
                <a16:creationId xmlns:a16="http://schemas.microsoft.com/office/drawing/2014/main" id="{C75360F7-7907-4C02-E3B6-23563DB8AE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7880" y="3901440"/>
            <a:ext cx="2377440" cy="24993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6521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4" name="Rectangle 11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6E12301-1C96-4D15-9838-D5B894B22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5" descr="Une image contenant intérieur&#10;&#10;Description générée automatiquement">
            <a:extLst>
              <a:ext uri="{FF2B5EF4-FFF2-40B4-BE49-F238E27FC236}">
                <a16:creationId xmlns:a16="http://schemas.microsoft.com/office/drawing/2014/main" id="{57F93482-74E8-C1AE-C47C-D1EE8DCF970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grpSp>
        <p:nvGrpSpPr>
          <p:cNvPr id="120" name="Top Left">
            <a:extLst>
              <a:ext uri="{FF2B5EF4-FFF2-40B4-BE49-F238E27FC236}">
                <a16:creationId xmlns:a16="http://schemas.microsoft.com/office/drawing/2014/main" id="{D7A5FD75-4B35-4162-9304-569491255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A5107DF9-40C8-458E-82E1-523137E7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BD83295-4F37-4B80-AF77-1798FB80C5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5888C74-4F56-4347-8944-E676A3C89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A69429CD-28C1-4DC7-84AD-4421A0AC8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62D63CF-41E9-4561-A945-E199ABE75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0C95C339-F16B-492F-903D-A6855F56E1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E85BC65A-0C9A-45A6-B18B-5E020CE983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60E663-15D4-5075-C8DB-8992CF85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26066"/>
            <a:ext cx="4795282" cy="5018227"/>
          </a:xfrm>
        </p:spPr>
        <p:txBody>
          <a:bodyPr anchor="ctr">
            <a:norm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Arial"/>
                <a:cs typeface="Arial"/>
              </a:rPr>
              <a:t>The project</a:t>
            </a:r>
          </a:p>
        </p:txBody>
      </p:sp>
      <p:grpSp>
        <p:nvGrpSpPr>
          <p:cNvPr id="129" name="Bottom Right">
            <a:extLst>
              <a:ext uri="{FF2B5EF4-FFF2-40B4-BE49-F238E27FC236}">
                <a16:creationId xmlns:a16="http://schemas.microsoft.com/office/drawing/2014/main" id="{34676384-D846-461C-B8F3-BDB849B4A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30" name="Graphic 157">
              <a:extLst>
                <a:ext uri="{FF2B5EF4-FFF2-40B4-BE49-F238E27FC236}">
                  <a16:creationId xmlns:a16="http://schemas.microsoft.com/office/drawing/2014/main" id="{50480E57-05E0-42B6-8693-191B4E9CF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1C989BD5-54F6-4747-83F1-81FCAEDAD8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6D7EE029-E135-4899-AC49-78D6946CD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4C9494D7-A3EA-4A41-8910-6B6FE95E59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9E7F2B7-DEB2-4B2A-99F9-10622D09E1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9DACD4DB-BAF5-43DD-8CC8-4200A16D66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6532D7D7-91B4-4F7C-B38E-5BBD5F3B42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2B7428A0-A810-46D6-9CC7-2475B2DF6E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C4A0E07-B9C5-49FB-B94A-B28D740C7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78352-2C57-B992-7865-711C91B73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1072" y="726538"/>
            <a:ext cx="5900468" cy="50170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Calibri" panose="020B0504020202020204" pitchFamily="34" charset="0"/>
              <a:buChar char="-"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Develop an innovative app for comprehensive information and analysis of the housing market in France.</a:t>
            </a:r>
          </a:p>
          <a:p>
            <a:pPr>
              <a:buFont typeface="Calibri" panose="020B0504020202020204" pitchFamily="34" charset="0"/>
              <a:buChar char="-"/>
            </a:pPr>
            <a:endParaRPr lang="en-US" sz="2400" dirty="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buFont typeface="Calibri" panose="020B0504020202020204" pitchFamily="34" charset="0"/>
              <a:buChar char="-"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Offer a user-friendly and interactive experience for exploring housing statistics and insights.</a:t>
            </a:r>
          </a:p>
          <a:p>
            <a:pPr>
              <a:buFont typeface="Calibri" panose="020B0504020202020204" pitchFamily="34" charset="0"/>
              <a:buChar char="-"/>
            </a:pPr>
            <a:endParaRPr lang="en-US" sz="2400" dirty="0">
              <a:solidFill>
                <a:srgbClr val="FFFFFF"/>
              </a:solidFill>
              <a:ea typeface="+mn-lt"/>
              <a:cs typeface="+mn-lt"/>
            </a:endParaRPr>
          </a:p>
          <a:p>
            <a:pPr>
              <a:buFont typeface="Calibri" panose="020B0504020202020204" pitchFamily="34" charset="0"/>
              <a:buChar char="-"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Your application should be accessible to both individuals and professionals</a:t>
            </a:r>
            <a:endParaRPr lang="en-US" sz="2400" dirty="0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7239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6" name="Top Left">
            <a:extLst>
              <a:ext uri="{FF2B5EF4-FFF2-40B4-BE49-F238E27FC236}">
                <a16:creationId xmlns:a16="http://schemas.microsoft.com/office/drawing/2014/main" id="{FADD1535-ED83-48B3-8EB1-671A080F0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70C64DB-421C-4FFD-8EB1-A7D1A5DC1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C04BFFB-0C30-49E1-B4F0-243531219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68C7354-F4EF-4BC5-BF44-01614E0B9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45981B8-FB15-43E7-B1CE-AE4A5E9B1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F05D22-2B12-4452-A804-346878D55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B26EE6B-DF99-4B8A-8859-82A92A598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E8FB053-1663-44BA-8128-0C19BD762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5E5E4F4-4EE0-49E3-98E5-F1E2BB91A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54E0437D-A3FE-6D96-6E26-CAE3FE55C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3" y="327900"/>
            <a:ext cx="5293609" cy="1664573"/>
          </a:xfrm>
        </p:spPr>
        <p:txBody>
          <a:bodyPr>
            <a:normAutofit fontScale="90000"/>
          </a:bodyPr>
          <a:lstStyle/>
          <a:p>
            <a:br>
              <a:rPr lang="fr-FR" dirty="0"/>
            </a:br>
            <a:r>
              <a:rPr lang="fr-FR" b="1" dirty="0">
                <a:latin typeface="Arial"/>
                <a:cs typeface="Arial"/>
              </a:rPr>
              <a:t>BIG DATA HOUSING</a:t>
            </a:r>
            <a:r>
              <a:rPr lang="fr-FR" dirty="0">
                <a:latin typeface="Arial"/>
                <a:cs typeface="Arial"/>
              </a:rPr>
              <a:t> </a:t>
            </a:r>
            <a:br>
              <a:rPr lang="fr-FR" dirty="0"/>
            </a:br>
            <a:r>
              <a:rPr lang="fr-FR" dirty="0"/>
              <a:t> </a:t>
            </a:r>
            <a:br>
              <a:rPr lang="fr-FR" dirty="0"/>
            </a:br>
            <a:endParaRPr lang="fr-FR" dirty="0"/>
          </a:p>
        </p:txBody>
      </p:sp>
      <p:sp>
        <p:nvSpPr>
          <p:cNvPr id="39" name="Content Placeholder 38">
            <a:extLst>
              <a:ext uri="{FF2B5EF4-FFF2-40B4-BE49-F238E27FC236}">
                <a16:creationId xmlns:a16="http://schemas.microsoft.com/office/drawing/2014/main" id="{A17F186F-0865-BFE0-1DCA-FFBDCF75C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381" y="2384474"/>
            <a:ext cx="5159461" cy="372861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200" dirty="0">
                <a:ea typeface="+mn-lt"/>
                <a:cs typeface="+mn-lt"/>
              </a:rPr>
              <a:t>Statistical, textual, and cartographic analysis of real estate in France.</a:t>
            </a:r>
            <a:endParaRPr lang="en-US" sz="2200" dirty="0">
              <a:cs typeface="Arial"/>
            </a:endParaRPr>
          </a:p>
          <a:p>
            <a:pPr>
              <a:buNone/>
            </a:pPr>
            <a:endParaRPr lang="en-US" sz="2200" dirty="0">
              <a:cs typeface="Arial"/>
            </a:endParaRPr>
          </a:p>
          <a:p>
            <a:pPr>
              <a:buNone/>
            </a:pPr>
            <a:r>
              <a:rPr lang="en-US" sz="2200" dirty="0">
                <a:cs typeface="Arial"/>
              </a:rPr>
              <a:t>Project's Vs : </a:t>
            </a:r>
          </a:p>
          <a:p>
            <a:pPr marL="285750" indent="-285750"/>
            <a:r>
              <a:rPr lang="en-US" sz="2200" dirty="0">
                <a:cs typeface="Arial"/>
              </a:rPr>
              <a:t>Volume</a:t>
            </a:r>
          </a:p>
          <a:p>
            <a:pPr marL="285750" indent="-285750"/>
            <a:r>
              <a:rPr lang="en-US" sz="2200" dirty="0">
                <a:cs typeface="Arial"/>
              </a:rPr>
              <a:t>Variety</a:t>
            </a:r>
          </a:p>
          <a:p>
            <a:pPr marL="285750" indent="-285750"/>
            <a:r>
              <a:rPr lang="en-US" sz="2200" dirty="0">
                <a:cs typeface="Arial"/>
              </a:rPr>
              <a:t>Volatility</a:t>
            </a:r>
          </a:p>
          <a:p>
            <a:pPr marL="285750" indent="-285750"/>
            <a:endParaRPr lang="en-US" sz="1800" dirty="0">
              <a:cs typeface="Arial"/>
            </a:endParaRPr>
          </a:p>
          <a:p>
            <a:pPr marL="285750" indent="-285750"/>
            <a:endParaRPr lang="en-US" sz="1800" dirty="0">
              <a:cs typeface="Arial"/>
            </a:endParaRPr>
          </a:p>
        </p:txBody>
      </p:sp>
      <p:pic>
        <p:nvPicPr>
          <p:cNvPr id="5" name="Espace réservé du contenu 4" descr="Une image contenant bâtiment, Photographie aérienne, plein air, aérien&#10;&#10;Description générée automatiquement">
            <a:extLst>
              <a:ext uri="{FF2B5EF4-FFF2-40B4-BE49-F238E27FC236}">
                <a16:creationId xmlns:a16="http://schemas.microsoft.com/office/drawing/2014/main" id="{2586CC55-B1C1-0728-17C9-17A6307471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96628" y="10"/>
            <a:ext cx="6195372" cy="6857990"/>
          </a:xfrm>
          <a:prstGeom prst="rect">
            <a:avLst/>
          </a:prstGeom>
        </p:spPr>
      </p:pic>
      <p:grpSp>
        <p:nvGrpSpPr>
          <p:cNvPr id="56" name="Bottom Right">
            <a:extLst>
              <a:ext uri="{FF2B5EF4-FFF2-40B4-BE49-F238E27FC236}">
                <a16:creationId xmlns:a16="http://schemas.microsoft.com/office/drawing/2014/main" id="{01081332-6CA1-49C2-A979-7709509AD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57" name="Graphic 157">
              <a:extLst>
                <a:ext uri="{FF2B5EF4-FFF2-40B4-BE49-F238E27FC236}">
                  <a16:creationId xmlns:a16="http://schemas.microsoft.com/office/drawing/2014/main" id="{826B0664-73BC-4FCB-A447-57F7F6764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23242A3E-DBD8-44D5-930F-DA776CA069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331C242-2FF0-40D4-BF95-4A27680F26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B500FE3B-EB2C-4A5D-ABA7-35137B2BA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6E1EA3BF-3A9F-4CD0-9640-6FF67F4430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7F4411F-5B81-451C-A006-8754E1618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4E4D64BD-20E2-44CF-AEB4-A87A43376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0B309630-6603-4319-BAB8-93102ABEB3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540FCD4-859A-4602-9CBC-C697E3877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5303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4" name="Titre 43">
            <a:extLst>
              <a:ext uri="{FF2B5EF4-FFF2-40B4-BE49-F238E27FC236}">
                <a16:creationId xmlns:a16="http://schemas.microsoft.com/office/drawing/2014/main" id="{8369924E-BE1C-4EB2-D8B7-22161CB4F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4"/>
            <a:ext cx="5295067" cy="708270"/>
          </a:xfrm>
        </p:spPr>
        <p:txBody>
          <a:bodyPr>
            <a:normAutofit/>
          </a:bodyPr>
          <a:lstStyle/>
          <a:p>
            <a:r>
              <a:rPr lang="fr-FR" sz="4000" b="1" dirty="0">
                <a:latin typeface="Arial"/>
                <a:cs typeface="Arial"/>
              </a:rPr>
              <a:t>Data </a:t>
            </a:r>
            <a:r>
              <a:rPr lang="fr-FR" sz="4000" b="1" dirty="0" err="1">
                <a:latin typeface="Arial"/>
                <a:cs typeface="Arial"/>
              </a:rPr>
              <a:t>variety</a:t>
            </a:r>
            <a:endParaRPr lang="fr-FR" sz="4000" b="1" dirty="0">
              <a:latin typeface="Arial"/>
              <a:cs typeface="Arial"/>
            </a:endParaRPr>
          </a:p>
        </p:txBody>
      </p:sp>
      <p:grpSp>
        <p:nvGrpSpPr>
          <p:cNvPr id="53" name="Top left">
            <a:extLst>
              <a:ext uri="{FF2B5EF4-FFF2-40B4-BE49-F238E27FC236}">
                <a16:creationId xmlns:a16="http://schemas.microsoft.com/office/drawing/2014/main" id="{A258A097-6133-4B30-BEEA-8B01FC0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443760F-17EA-42FD-B5B5-F28B74D7F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EB72FEE-D2F8-4B74-8D9B-E6D9C9C0BC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E7AEDBA-CEF0-40CA-8E09-7A0C37685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2D507F9-A9F3-4E1A-83D8-FDDF036E3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DAC39B7-68A7-46E9-91C9-640439DBC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67B354C-E76E-4897-B55A-62A488BAC5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6DB6361-8FFC-4F23-8355-A1018756B5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1AEC79A-5C3D-423E-A82A-2CC4B7BEB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35" name="Image 34" descr="Une image contenant carte, globe&#10;&#10;Description générée automatiquement">
            <a:extLst>
              <a:ext uri="{FF2B5EF4-FFF2-40B4-BE49-F238E27FC236}">
                <a16:creationId xmlns:a16="http://schemas.microsoft.com/office/drawing/2014/main" id="{4267E648-C410-E612-1592-D99E4454C3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43" r="18258" b="4"/>
          <a:stretch/>
        </p:blipFill>
        <p:spPr>
          <a:xfrm>
            <a:off x="6490771" y="393103"/>
            <a:ext cx="2696701" cy="5393403"/>
          </a:xfrm>
          <a:custGeom>
            <a:avLst/>
            <a:gdLst/>
            <a:ahLst/>
            <a:cxnLst/>
            <a:rect l="l" t="t" r="r" b="b"/>
            <a:pathLst>
              <a:path w="2696701" h="5393403">
                <a:moveTo>
                  <a:pt x="2696701" y="0"/>
                </a:moveTo>
                <a:lnTo>
                  <a:pt x="2696701" y="5393403"/>
                </a:lnTo>
                <a:cubicBezTo>
                  <a:pt x="1207335" y="5393403"/>
                  <a:pt x="0" y="4186068"/>
                  <a:pt x="0" y="2696702"/>
                </a:cubicBezTo>
                <a:cubicBezTo>
                  <a:pt x="0" y="1207335"/>
                  <a:pt x="1207335" y="0"/>
                  <a:pt x="2696701" y="0"/>
                </a:cubicBezTo>
                <a:close/>
              </a:path>
            </a:pathLst>
          </a:custGeom>
        </p:spPr>
      </p:pic>
      <p:pic>
        <p:nvPicPr>
          <p:cNvPr id="33" name="Image 32" descr="Une image contenant texte, capture d’écran&#10;&#10;Description générée automatiquement">
            <a:extLst>
              <a:ext uri="{FF2B5EF4-FFF2-40B4-BE49-F238E27FC236}">
                <a16:creationId xmlns:a16="http://schemas.microsoft.com/office/drawing/2014/main" id="{DAA312DA-24BE-7844-0441-0E23A0EBD2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345" r="26656" b="4"/>
          <a:stretch/>
        </p:blipFill>
        <p:spPr>
          <a:xfrm>
            <a:off x="9187471" y="393103"/>
            <a:ext cx="2696701" cy="5393402"/>
          </a:xfrm>
          <a:custGeom>
            <a:avLst/>
            <a:gdLst/>
            <a:ahLst/>
            <a:cxnLst/>
            <a:rect l="l" t="t" r="r" b="b"/>
            <a:pathLst>
              <a:path w="2628900" h="5257800">
                <a:moveTo>
                  <a:pt x="0" y="0"/>
                </a:moveTo>
                <a:cubicBezTo>
                  <a:pt x="1451920" y="0"/>
                  <a:pt x="2628900" y="1176980"/>
                  <a:pt x="2628900" y="2628900"/>
                </a:cubicBezTo>
                <a:cubicBezTo>
                  <a:pt x="2628900" y="4080820"/>
                  <a:pt x="1451920" y="5257800"/>
                  <a:pt x="0" y="5257800"/>
                </a:cubicBezTo>
                <a:close/>
              </a:path>
            </a:pathLst>
          </a:custGeom>
        </p:spPr>
      </p:pic>
      <p:grpSp>
        <p:nvGrpSpPr>
          <p:cNvPr id="63" name="Cross">
            <a:extLst>
              <a:ext uri="{FF2B5EF4-FFF2-40B4-BE49-F238E27FC236}">
                <a16:creationId xmlns:a16="http://schemas.microsoft.com/office/drawing/2014/main" id="{5E7E5269-5E04-41C9-9AED-86EE6945E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05587" y="2977859"/>
            <a:ext cx="118872" cy="118872"/>
            <a:chOff x="1175347" y="3733800"/>
            <a:chExt cx="118872" cy="118872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F0457EA-B3E7-4288-A668-411A211E0A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169EB24-FAD9-40C5-8427-87969C846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7" name="Bottom Right">
            <a:extLst>
              <a:ext uri="{FF2B5EF4-FFF2-40B4-BE49-F238E27FC236}">
                <a16:creationId xmlns:a16="http://schemas.microsoft.com/office/drawing/2014/main" id="{D2110373-A745-4253-8815-AF86BCF88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4280A0A-F7AA-4617-8D37-66978C00D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69" name="Graphic 157">
              <a:extLst>
                <a:ext uri="{FF2B5EF4-FFF2-40B4-BE49-F238E27FC236}">
                  <a16:creationId xmlns:a16="http://schemas.microsoft.com/office/drawing/2014/main" id="{AFF39B93-B5B8-4562-9C77-B596F4C60D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4D1E63D9-D76C-4F06-9CCF-876C3C5140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F115AA7-7C62-4A89-BC1F-2BC9A793BF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C86CE8C2-A86A-46D1-944D-D90F10DCE6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F6F3DF81-F4F1-40A6-8258-84A0BD6F76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91DF345B-BB61-4D87-AB1F-921990AE62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BAE393CA-48A1-4A6D-A186-0E560F5886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37F6CF99-9F54-4207-B8E3-03A7E7020B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A7A4ADF-E823-4909-89B9-74FC2D5AD7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EB96AFD-18D8-B4A7-B728-AD4F3CBC08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476902"/>
              </p:ext>
            </p:extLst>
          </p:nvPr>
        </p:nvGraphicFramePr>
        <p:xfrm>
          <a:off x="1099996" y="1432197"/>
          <a:ext cx="5086131" cy="53934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923806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67" name="Top Left">
            <a:extLst>
              <a:ext uri="{FF2B5EF4-FFF2-40B4-BE49-F238E27FC236}">
                <a16:creationId xmlns:a16="http://schemas.microsoft.com/office/drawing/2014/main" id="{FADD1535-ED83-48B3-8EB1-671A080F0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70C64DB-421C-4FFD-8EB1-A7D1A5DC1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68" name="Freeform: Shape 44">
              <a:extLst>
                <a:ext uri="{FF2B5EF4-FFF2-40B4-BE49-F238E27FC236}">
                  <a16:creationId xmlns:a16="http://schemas.microsoft.com/office/drawing/2014/main" id="{5C04BFFB-0C30-49E1-B4F0-243531219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68C7354-F4EF-4BC5-BF44-01614E0B9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45981B8-FB15-43E7-B1CE-AE4A5E9B1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5F05D22-2B12-4452-A804-346878D55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7B26EE6B-DF99-4B8A-8859-82A92A598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E8FB053-1663-44BA-8128-0C19BD762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75E5E4F4-4EE0-49E3-98E5-F1E2BB91A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62798FD0-B37D-B66A-376D-2386B087B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4378517" cy="1664573"/>
          </a:xfrm>
        </p:spPr>
        <p:txBody>
          <a:bodyPr>
            <a:normAutofit/>
          </a:bodyPr>
          <a:lstStyle/>
          <a:p>
            <a:r>
              <a:rPr lang="fr-FR" sz="4000" dirty="0">
                <a:latin typeface="Arial"/>
                <a:cs typeface="Arial"/>
              </a:rPr>
              <a:t>Non </a:t>
            </a:r>
            <a:r>
              <a:rPr lang="fr-FR" sz="4000" err="1">
                <a:latin typeface="Arial"/>
                <a:cs typeface="Arial"/>
              </a:rPr>
              <a:t>relational</a:t>
            </a:r>
            <a:r>
              <a:rPr lang="fr-FR" sz="4000" dirty="0">
                <a:latin typeface="Arial"/>
                <a:cs typeface="Arial"/>
              </a:rPr>
              <a:t> </a:t>
            </a:r>
            <a:r>
              <a:rPr lang="fr-FR" sz="4000" err="1">
                <a:latin typeface="Arial"/>
                <a:cs typeface="Arial"/>
              </a:rPr>
              <a:t>Databases</a:t>
            </a:r>
            <a:endParaRPr lang="fr-FR" sz="4000">
              <a:latin typeface="Arial"/>
              <a:cs typeface="Arial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FB2053-67C3-A087-CFC8-0C59881F7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844" y="2384474"/>
            <a:ext cx="4883436" cy="37286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200" dirty="0">
                <a:cs typeface="Arial"/>
              </a:rPr>
              <a:t>The use of an </a:t>
            </a:r>
            <a:r>
              <a:rPr lang="fr-FR" sz="2200" dirty="0" err="1">
                <a:cs typeface="Arial"/>
              </a:rPr>
              <a:t>appropriate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database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helps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optimize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storage</a:t>
            </a:r>
            <a:endParaRPr lang="fr-FR" sz="2200" dirty="0">
              <a:cs typeface="Arial"/>
            </a:endParaRPr>
          </a:p>
          <a:p>
            <a:pPr marL="0" indent="0">
              <a:buNone/>
            </a:pPr>
            <a:endParaRPr lang="fr-FR" sz="2200" dirty="0">
              <a:cs typeface="Arial"/>
            </a:endParaRPr>
          </a:p>
          <a:p>
            <a:r>
              <a:rPr lang="fr-FR" sz="2200" dirty="0">
                <a:cs typeface="Arial"/>
              </a:rPr>
              <a:t>Due to the </a:t>
            </a:r>
            <a:r>
              <a:rPr lang="fr-FR" sz="2200" dirty="0" err="1">
                <a:cs typeface="Arial"/>
              </a:rPr>
              <a:t>wide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variaty</a:t>
            </a:r>
            <a:r>
              <a:rPr lang="fr-FR" sz="2200" dirty="0">
                <a:cs typeface="Arial"/>
              </a:rPr>
              <a:t>/</a:t>
            </a:r>
            <a:r>
              <a:rPr lang="fr-FR" sz="2200" dirty="0" err="1">
                <a:cs typeface="Arial"/>
              </a:rPr>
              <a:t>volatility</a:t>
            </a:r>
            <a:r>
              <a:rPr lang="fr-FR" sz="2200" dirty="0">
                <a:cs typeface="Arial"/>
              </a:rPr>
              <a:t> of data </a:t>
            </a:r>
            <a:r>
              <a:rPr lang="fr-FR" sz="2200" dirty="0" err="1">
                <a:cs typeface="Arial"/>
              </a:rPr>
              <a:t>it's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advantageous</a:t>
            </a:r>
            <a:r>
              <a:rPr lang="fr-FR" sz="2200" dirty="0">
                <a:cs typeface="Arial"/>
              </a:rPr>
              <a:t> to have a </a:t>
            </a:r>
            <a:r>
              <a:rPr lang="fr-FR" sz="2200" dirty="0" err="1">
                <a:cs typeface="Arial"/>
              </a:rPr>
              <a:t>suitable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storage</a:t>
            </a:r>
            <a:r>
              <a:rPr lang="fr-FR" sz="2200" dirty="0">
                <a:cs typeface="Arial"/>
              </a:rPr>
              <a:t> system</a:t>
            </a:r>
          </a:p>
          <a:p>
            <a:endParaRPr lang="fr-FR" sz="1800" dirty="0">
              <a:cs typeface="Arial"/>
            </a:endParaRPr>
          </a:p>
          <a:p>
            <a:endParaRPr lang="fr-FR" sz="1800" dirty="0">
              <a:cs typeface="Arial"/>
            </a:endParaRPr>
          </a:p>
          <a:p>
            <a:pPr lvl="1">
              <a:buFont typeface="Courier New" panose="020B0504020202020204" pitchFamily="34" charset="0"/>
              <a:buChar char="o"/>
            </a:pPr>
            <a:endParaRPr lang="fr-FR" sz="1800" dirty="0">
              <a:cs typeface="Arial"/>
            </a:endParaRPr>
          </a:p>
          <a:p>
            <a:pPr lvl="1">
              <a:buFont typeface="Courier New" panose="020B0504020202020204" pitchFamily="34" charset="0"/>
              <a:buChar char="o"/>
            </a:pPr>
            <a:endParaRPr lang="fr-FR" sz="1800" dirty="0">
              <a:cs typeface="Arial"/>
            </a:endParaRPr>
          </a:p>
        </p:txBody>
      </p:sp>
      <p:pic>
        <p:nvPicPr>
          <p:cNvPr id="5" name="Picture 4" descr="Une image contenant bâtiment, capture d’écran, intérieur&#10;&#10;Description générée automatiquement">
            <a:extLst>
              <a:ext uri="{FF2B5EF4-FFF2-40B4-BE49-F238E27FC236}">
                <a16:creationId xmlns:a16="http://schemas.microsoft.com/office/drawing/2014/main" id="{6D58C4E0-2FC3-6B6D-9C46-70E48EC05E1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60" r="4702"/>
          <a:stretch/>
        </p:blipFill>
        <p:spPr>
          <a:xfrm>
            <a:off x="5996628" y="10"/>
            <a:ext cx="6195372" cy="6857990"/>
          </a:xfrm>
          <a:prstGeom prst="rect">
            <a:avLst/>
          </a:prstGeom>
        </p:spPr>
      </p:pic>
      <p:grpSp>
        <p:nvGrpSpPr>
          <p:cNvPr id="53" name="Bottom Right">
            <a:extLst>
              <a:ext uri="{FF2B5EF4-FFF2-40B4-BE49-F238E27FC236}">
                <a16:creationId xmlns:a16="http://schemas.microsoft.com/office/drawing/2014/main" id="{01081332-6CA1-49C2-A979-7709509AD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69" name="Graphic 157">
              <a:extLst>
                <a:ext uri="{FF2B5EF4-FFF2-40B4-BE49-F238E27FC236}">
                  <a16:creationId xmlns:a16="http://schemas.microsoft.com/office/drawing/2014/main" id="{826B0664-73BC-4FCB-A447-57F7F6764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23242A3E-DBD8-44D5-930F-DA776CA069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F331C242-2FF0-40D4-BF95-4A27680F26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B500FE3B-EB2C-4A5D-ABA7-35137B2BA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6E1EA3BF-3A9F-4CD0-9640-6FF67F4430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17F4411F-5B81-451C-A006-8754E1618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4E4D64BD-20E2-44CF-AEB4-A87A43376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0B309630-6603-4319-BAB8-93102ABEB3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540FCD4-859A-4602-9CBC-C697E3877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65397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16E12301-1C96-4D15-9838-D5B894B22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9" name="Top Left">
            <a:extLst>
              <a:ext uri="{FF2B5EF4-FFF2-40B4-BE49-F238E27FC236}">
                <a16:creationId xmlns:a16="http://schemas.microsoft.com/office/drawing/2014/main" id="{D7A5FD75-4B35-4162-9304-569491255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5107DF9-40C8-458E-82E1-523137E7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BD83295-4F37-4B80-AF77-1798FB80C5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65888C74-4F56-4347-8944-E676A3C896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A69429CD-28C1-4DC7-84AD-4421A0AC8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762D63CF-41E9-4561-A945-E199ABE75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0C95C339-F16B-492F-903D-A6855F56E1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85BC65A-0C9A-45A6-B18B-5E020CE983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3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32E29DA4-7551-514F-8488-94A8607DDB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118" y="10"/>
            <a:ext cx="6094937" cy="68566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12BF12-0F55-DE16-CD09-FBD82C651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26066"/>
            <a:ext cx="4795282" cy="5018227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  <a:latin typeface="Arial"/>
                <a:cs typeface="Arial"/>
              </a:rPr>
              <a:t>Cartographic data</a:t>
            </a:r>
          </a:p>
        </p:txBody>
      </p:sp>
      <p:grpSp>
        <p:nvGrpSpPr>
          <p:cNvPr id="138" name="Bottom Right">
            <a:extLst>
              <a:ext uri="{FF2B5EF4-FFF2-40B4-BE49-F238E27FC236}">
                <a16:creationId xmlns:a16="http://schemas.microsoft.com/office/drawing/2014/main" id="{34676384-D846-461C-B8F3-BDB849B4A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39" name="Graphic 157">
              <a:extLst>
                <a:ext uri="{FF2B5EF4-FFF2-40B4-BE49-F238E27FC236}">
                  <a16:creationId xmlns:a16="http://schemas.microsoft.com/office/drawing/2014/main" id="{50480E57-05E0-42B6-8693-191B4E9CF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C989BD5-54F6-4747-83F1-81FCAEDAD8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6D7EE029-E135-4899-AC49-78D6946CD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4C9494D7-A3EA-4A41-8910-6B6FE95E59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89E7F2B7-DEB2-4B2A-99F9-10622D09E1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9DACD4DB-BAF5-43DD-8CC8-4200A16D66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6532D7D7-91B4-4F7C-B38E-5BBD5F3B42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2B7428A0-A810-46D6-9CC7-2475B2DF6E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C4A0E07-B9C5-49FB-B94A-B28D740C7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Image 3" descr="Une image contenant eau, aérien, plein air&#10;&#10;Description générée automatiquement">
            <a:extLst>
              <a:ext uri="{FF2B5EF4-FFF2-40B4-BE49-F238E27FC236}">
                <a16:creationId xmlns:a16="http://schemas.microsoft.com/office/drawing/2014/main" id="{D825D401-7193-4769-F1C3-1492B145BC2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7063" y="10"/>
            <a:ext cx="6094937" cy="685661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8937E-6A37-E83B-8EDD-2386C43F3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532" y="983688"/>
            <a:ext cx="4762493" cy="48892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2200" b="1" dirty="0" err="1">
                <a:solidFill>
                  <a:srgbClr val="FFFFFF"/>
                </a:solidFill>
                <a:cs typeface="Arial"/>
              </a:rPr>
              <a:t>Achieving</a:t>
            </a:r>
            <a:r>
              <a:rPr lang="fr-FR" sz="2200" b="1" dirty="0">
                <a:solidFill>
                  <a:srgbClr val="FFFFFF"/>
                </a:solidFill>
                <a:cs typeface="Arial"/>
              </a:rPr>
              <a:t> a </a:t>
            </a:r>
            <a:r>
              <a:rPr lang="fr-FR" sz="2200" b="1" dirty="0" err="1">
                <a:solidFill>
                  <a:srgbClr val="FFFFFF"/>
                </a:solidFill>
                <a:cs typeface="Arial"/>
              </a:rPr>
              <a:t>better</a:t>
            </a:r>
            <a:r>
              <a:rPr lang="fr-FR" sz="2200" b="1" dirty="0">
                <a:solidFill>
                  <a:srgbClr val="FFFFFF"/>
                </a:solidFill>
                <a:cs typeface="Arial"/>
              </a:rPr>
              <a:t> </a:t>
            </a:r>
            <a:r>
              <a:rPr lang="fr-FR" sz="2200" b="1" dirty="0" err="1">
                <a:solidFill>
                  <a:srgbClr val="FFFFFF"/>
                </a:solidFill>
                <a:cs typeface="Arial"/>
              </a:rPr>
              <a:t>representation</a:t>
            </a:r>
            <a:r>
              <a:rPr lang="fr-FR" sz="2200" b="1" dirty="0">
                <a:solidFill>
                  <a:srgbClr val="FFFFFF"/>
                </a:solidFill>
                <a:cs typeface="Arial"/>
              </a:rPr>
              <a:t> in </a:t>
            </a:r>
            <a:r>
              <a:rPr lang="fr-FR" sz="2200" b="1" dirty="0" err="1">
                <a:solidFill>
                  <a:srgbClr val="FFFFFF"/>
                </a:solidFill>
                <a:cs typeface="Arial"/>
              </a:rPr>
              <a:t>space</a:t>
            </a:r>
            <a:br>
              <a:rPr lang="fr-FR" sz="2200" b="1" dirty="0">
                <a:cs typeface="Arial"/>
              </a:rPr>
            </a:br>
            <a:endParaRPr lang="fr-FR" sz="2200" b="1" dirty="0">
              <a:solidFill>
                <a:srgbClr val="FFFFFF"/>
              </a:solidFill>
              <a:cs typeface="Arial"/>
            </a:endParaRPr>
          </a:p>
          <a:p>
            <a:r>
              <a:rPr lang="fr-FR" sz="2200" b="1" dirty="0" err="1">
                <a:solidFill>
                  <a:srgbClr val="FFFFFF"/>
                </a:solidFill>
                <a:cs typeface="Arial"/>
              </a:rPr>
              <a:t>Integrating</a:t>
            </a:r>
            <a:r>
              <a:rPr lang="fr-FR" sz="2200" b="1" dirty="0">
                <a:solidFill>
                  <a:srgbClr val="FFFFFF"/>
                </a:solidFill>
                <a:cs typeface="Arial"/>
              </a:rPr>
              <a:t> multiple </a:t>
            </a:r>
            <a:r>
              <a:rPr lang="fr-FR" sz="2200" b="1" dirty="0" err="1">
                <a:solidFill>
                  <a:srgbClr val="FFFFFF"/>
                </a:solidFill>
                <a:cs typeface="Arial"/>
              </a:rPr>
              <a:t>levels</a:t>
            </a:r>
            <a:r>
              <a:rPr lang="fr-FR" sz="2200" b="1" dirty="0">
                <a:solidFill>
                  <a:srgbClr val="FFFFFF"/>
                </a:solidFill>
                <a:cs typeface="Arial"/>
              </a:rPr>
              <a:t> of </a:t>
            </a:r>
            <a:r>
              <a:rPr lang="fr-FR" sz="2200" b="1" dirty="0" err="1">
                <a:solidFill>
                  <a:srgbClr val="FFFFFF"/>
                </a:solidFill>
                <a:cs typeface="Arial"/>
              </a:rPr>
              <a:t>visualization</a:t>
            </a:r>
            <a:r>
              <a:rPr lang="fr-FR" sz="2200" b="1" dirty="0">
                <a:solidFill>
                  <a:srgbClr val="FFFFFF"/>
                </a:solidFill>
                <a:cs typeface="Arial"/>
              </a:rPr>
              <a:t>, ex : </a:t>
            </a:r>
            <a:r>
              <a:rPr lang="fr-FR" sz="2200" b="1" dirty="0" err="1">
                <a:solidFill>
                  <a:srgbClr val="FFFFFF"/>
                </a:solidFill>
                <a:cs typeface="Arial"/>
              </a:rPr>
              <a:t>bubblee</a:t>
            </a:r>
            <a:r>
              <a:rPr lang="fr-FR" sz="2200" b="1" dirty="0">
                <a:solidFill>
                  <a:srgbClr val="FFFFFF"/>
                </a:solidFill>
                <a:cs typeface="Arial"/>
              </a:rPr>
              <a:t> plots + </a:t>
            </a:r>
            <a:r>
              <a:rPr lang="fr-FR" sz="2200" b="1" dirty="0" err="1">
                <a:solidFill>
                  <a:srgbClr val="FFFFFF"/>
                </a:solidFill>
                <a:cs typeface="Arial"/>
              </a:rPr>
              <a:t>maps</a:t>
            </a:r>
            <a:endParaRPr lang="fr-FR" sz="2200" b="1" dirty="0">
              <a:solidFill>
                <a:srgbClr val="FFFFFF"/>
              </a:solidFill>
              <a:cs typeface="Arial"/>
            </a:endParaRPr>
          </a:p>
          <a:p>
            <a:pPr marL="0" indent="0">
              <a:buNone/>
            </a:pPr>
            <a:endParaRPr lang="en-US" sz="1800" b="1" dirty="0">
              <a:solidFill>
                <a:srgbClr val="FFFFFF"/>
              </a:solidFill>
              <a:cs typeface="Arial"/>
            </a:endParaRPr>
          </a:p>
          <a:p>
            <a:pPr marL="0" indent="0">
              <a:buNone/>
            </a:pPr>
            <a:endParaRPr lang="en-US" sz="1800" dirty="0">
              <a:solidFill>
                <a:srgbClr val="FFFFFF"/>
              </a:solidFill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0927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1" name="Rectangle 19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95" name="Top Left">
            <a:extLst>
              <a:ext uri="{FF2B5EF4-FFF2-40B4-BE49-F238E27FC236}">
                <a16:creationId xmlns:a16="http://schemas.microsoft.com/office/drawing/2014/main" id="{DC655204-C06A-4A55-9BB4-C79C4AF9D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F83BC876-5C0C-438A-8928-B1EC2E1E4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9B3EEC1-86B7-4DB1-AB38-E2D749392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BEB2CD0B-3D3E-4CF3-92F5-7AE77C22C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1561934-15F2-4620-A65F-28EB73CD7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DB9278E2-D464-4DE2-B229-D3D02ED2B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67AA3CE0-412D-4C03-9203-878479E0A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85785346-E446-47E2-B3DD-C1C561E68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0F6388E0-BD20-4901-B128-88D3D56A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9115FD7-2150-8412-6049-FB7B4E3D1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-189897"/>
            <a:ext cx="4987809" cy="166457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/>
                <a:cs typeface="Arial"/>
              </a:rPr>
              <a:t>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F1383-27D1-C453-5152-27E8479C1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046" y="1474990"/>
            <a:ext cx="4987488" cy="372861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fr-FR" sz="2200" dirty="0">
                <a:cs typeface="Arial"/>
              </a:rPr>
              <a:t>Gouvernemental </a:t>
            </a:r>
            <a:r>
              <a:rPr lang="fr-FR" sz="2200" dirty="0" err="1">
                <a:cs typeface="Arial"/>
              </a:rPr>
              <a:t>datasets</a:t>
            </a:r>
          </a:p>
          <a:p>
            <a:r>
              <a:rPr lang="fr-FR" sz="2200" dirty="0" err="1">
                <a:cs typeface="Arial"/>
              </a:rPr>
              <a:t>Using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verified</a:t>
            </a:r>
            <a:r>
              <a:rPr lang="fr-FR" sz="2200" dirty="0">
                <a:cs typeface="Arial"/>
              </a:rPr>
              <a:t> data</a:t>
            </a:r>
          </a:p>
          <a:p>
            <a:r>
              <a:rPr lang="fr-FR" sz="2200" dirty="0">
                <a:cs typeface="Arial"/>
              </a:rPr>
              <a:t>Open-source </a:t>
            </a:r>
            <a:r>
              <a:rPr lang="fr-FR" sz="2200" dirty="0" err="1">
                <a:cs typeface="Arial"/>
              </a:rPr>
              <a:t>disponibility</a:t>
            </a:r>
            <a:endParaRPr lang="fr-FR" sz="2200" dirty="0">
              <a:cs typeface="Arial"/>
            </a:endParaRPr>
          </a:p>
          <a:p>
            <a:r>
              <a:rPr lang="fr-FR" sz="2200" dirty="0" err="1">
                <a:cs typeface="Arial"/>
              </a:rPr>
              <a:t>API's</a:t>
            </a:r>
          </a:p>
          <a:p>
            <a:endParaRPr lang="fr-FR" sz="2200" dirty="0">
              <a:cs typeface="Arial"/>
            </a:endParaRPr>
          </a:p>
          <a:p>
            <a:pPr marL="0" indent="0">
              <a:buNone/>
            </a:pPr>
            <a:r>
              <a:rPr lang="fr-FR" sz="2200" dirty="0" err="1">
                <a:cs typeface="Arial"/>
              </a:rPr>
              <a:t>Other</a:t>
            </a:r>
            <a:r>
              <a:rPr lang="fr-FR" sz="2200" dirty="0">
                <a:cs typeface="Arial"/>
              </a:rPr>
              <a:t> </a:t>
            </a:r>
            <a:r>
              <a:rPr lang="fr-FR" sz="2200" dirty="0" err="1">
                <a:cs typeface="Arial"/>
              </a:rPr>
              <a:t>Datasets</a:t>
            </a:r>
          </a:p>
          <a:p>
            <a:r>
              <a:rPr lang="en-US" sz="2200" dirty="0">
                <a:cs typeface="Arial"/>
              </a:rPr>
              <a:t>Specific data</a:t>
            </a:r>
          </a:p>
          <a:p>
            <a:r>
              <a:rPr lang="en-US" sz="2200" dirty="0">
                <a:cs typeface="Arial"/>
              </a:rPr>
              <a:t>Different formats of data from </a:t>
            </a:r>
            <a:r>
              <a:rPr lang="en-US" sz="2200" dirty="0" err="1">
                <a:cs typeface="Arial"/>
              </a:rPr>
              <a:t>DataGouv</a:t>
            </a:r>
          </a:p>
          <a:p>
            <a:r>
              <a:rPr lang="en-US" sz="2200" dirty="0">
                <a:cs typeface="Arial"/>
              </a:rPr>
              <a:t>Attention to usage conditions for scraping data</a:t>
            </a:r>
            <a:endParaRPr lang="fr-FR" sz="2200" dirty="0"/>
          </a:p>
          <a:p>
            <a:pPr lvl="1"/>
            <a:endParaRPr lang="fr-FR" sz="1700" dirty="0">
              <a:cs typeface="Arial"/>
            </a:endParaRPr>
          </a:p>
          <a:p>
            <a:pPr lvl="1"/>
            <a:endParaRPr lang="fr-FR" sz="1700" u="sng" dirty="0">
              <a:cs typeface="Arial"/>
            </a:endParaRPr>
          </a:p>
          <a:p>
            <a:pPr lvl="1"/>
            <a:endParaRPr lang="fr-FR" sz="1700" dirty="0">
              <a:cs typeface="Arial"/>
            </a:endParaRPr>
          </a:p>
          <a:p>
            <a:pPr lvl="1"/>
            <a:endParaRPr lang="fr-FR" sz="1700" dirty="0">
              <a:cs typeface="Arial"/>
            </a:endParaRPr>
          </a:p>
          <a:p>
            <a:endParaRPr lang="en-US" sz="1700" dirty="0">
              <a:cs typeface="Arial"/>
            </a:endParaRPr>
          </a:p>
          <a:p>
            <a:endParaRPr lang="en-US" sz="1700" dirty="0">
              <a:cs typeface="Arial"/>
            </a:endParaRPr>
          </a:p>
        </p:txBody>
      </p:sp>
      <p:pic>
        <p:nvPicPr>
          <p:cNvPr id="8" name="Image 7" descr="Une image contenant ordinateur, bâtiment, personne, intérieur&#10;&#10;Description générée automatiquement">
            <a:extLst>
              <a:ext uri="{FF2B5EF4-FFF2-40B4-BE49-F238E27FC236}">
                <a16:creationId xmlns:a16="http://schemas.microsoft.com/office/drawing/2014/main" id="{2AD6E9B6-EB48-25C3-3ACB-D02D60F830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66" r="1" b="5634"/>
          <a:stretch/>
        </p:blipFill>
        <p:spPr>
          <a:xfrm>
            <a:off x="6508749" y="862806"/>
            <a:ext cx="5132388" cy="5132388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</p:pic>
      <p:grpSp>
        <p:nvGrpSpPr>
          <p:cNvPr id="205" name="Bottom Right">
            <a:extLst>
              <a:ext uri="{FF2B5EF4-FFF2-40B4-BE49-F238E27FC236}">
                <a16:creationId xmlns:a16="http://schemas.microsoft.com/office/drawing/2014/main" id="{4C476EAB-383B-48F9-B661-B049EB50A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045FFB7-76A2-4C6F-A15F-23BF1597C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07" name="Graphic 157">
              <a:extLst>
                <a:ext uri="{FF2B5EF4-FFF2-40B4-BE49-F238E27FC236}">
                  <a16:creationId xmlns:a16="http://schemas.microsoft.com/office/drawing/2014/main" id="{F4E5EB5B-D417-4B20-9CBE-F3DCCA5F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56643958-DAAD-4611-BCC7-9BDB5917C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263D00C7-B9D3-4681-8C55-F137CBD364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0539B678-9BB9-4639-B9A4-4511639BB4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C14F8CDF-D0D2-43AD-A7AB-0871C24A6E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25D54C27-D98D-4E8C-87BD-E0ECAB3BAE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CA10EDED-B646-4197-BF0C-C4A83018BA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B9B3D029-DC96-4655-89E2-D9387B3D5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EF12D98D-E6A5-437D-830E-C5C0E7ACE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5885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8" name="Rectangle 38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B56CB-0BA8-D81E-24DA-87DF03FB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5605358" cy="16645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latin typeface="Arial"/>
                <a:ea typeface="+mj-lt"/>
                <a:cs typeface="+mj-lt"/>
              </a:rPr>
              <a:t>Processing</a:t>
            </a:r>
            <a:endParaRPr lang="en-US" sz="4000" b="1" dirty="0">
              <a:latin typeface="Arial"/>
            </a:endParaRPr>
          </a:p>
          <a:p>
            <a:pPr>
              <a:lnSpc>
                <a:spcPct val="90000"/>
              </a:lnSpc>
            </a:pPr>
            <a:br>
              <a:rPr lang="en-US" sz="3700" dirty="0"/>
            </a:br>
            <a:endParaRPr lang="en-US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0ADF-E449-1953-F99A-318EB8D60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5" y="2384474"/>
            <a:ext cx="5604997" cy="37286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cs typeface="Arial"/>
              </a:rPr>
              <a:t>Using appropriate tools to process large volumes of data</a:t>
            </a:r>
          </a:p>
          <a:p>
            <a:endParaRPr lang="en-US" sz="2200" dirty="0">
              <a:cs typeface="Arial"/>
            </a:endParaRPr>
          </a:p>
          <a:p>
            <a:r>
              <a:rPr lang="en-US" sz="2200" dirty="0">
                <a:cs typeface="Arial"/>
              </a:rPr>
              <a:t>Helps shorten calculation times</a:t>
            </a:r>
          </a:p>
          <a:p>
            <a:endParaRPr lang="en-US" sz="2200" dirty="0">
              <a:cs typeface="Arial"/>
            </a:endParaRPr>
          </a:p>
          <a:p>
            <a:r>
              <a:rPr lang="en-US" sz="2200" dirty="0">
                <a:cs typeface="Arial"/>
              </a:rPr>
              <a:t>Managing calculations in the cloud</a:t>
            </a:r>
          </a:p>
          <a:p>
            <a:endParaRPr lang="en-US" sz="1800" dirty="0">
              <a:cs typeface="Arial"/>
            </a:endParaRPr>
          </a:p>
          <a:p>
            <a:endParaRPr lang="en-US" sz="1800" dirty="0">
              <a:cs typeface="Arial"/>
            </a:endParaRPr>
          </a:p>
        </p:txBody>
      </p:sp>
      <p:grpSp>
        <p:nvGrpSpPr>
          <p:cNvPr id="392" name="Top left">
            <a:extLst>
              <a:ext uri="{FF2B5EF4-FFF2-40B4-BE49-F238E27FC236}">
                <a16:creationId xmlns:a16="http://schemas.microsoft.com/office/drawing/2014/main" id="{018B77F3-19EF-43BE-AA95-9929CF088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2838E937-01D3-43B7-8692-491307AAD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73F4D862-7F81-447A-870A-C1E84EF0B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05A4B939-23EE-4F6C-B802-5741F61D5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4E00246F-3383-4D02-BF0E-393F9033A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1C74B0BD-FBF1-4B0E-98C1-3C6625D90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9237D294-281E-449D-A31F-FE23A2C9C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8082F7F5-1FD9-4206-8F6B-48A5EC70F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85EBEE9A-F4B1-4271-96B8-76984411A5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4" name="Image 3" descr="Une image contenant conteneur, panier, Panier de rangement, osier&#10;&#10;Description générée automatiquement">
            <a:extLst>
              <a:ext uri="{FF2B5EF4-FFF2-40B4-BE49-F238E27FC236}">
                <a16:creationId xmlns:a16="http://schemas.microsoft.com/office/drawing/2014/main" id="{E6F4DC7E-F7B9-6A39-9618-76EE175561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98" r="4" b="25372"/>
          <a:stretch/>
        </p:blipFill>
        <p:spPr>
          <a:xfrm>
            <a:off x="7188594" y="10"/>
            <a:ext cx="5003406" cy="3428990"/>
          </a:xfrm>
          <a:prstGeom prst="rect">
            <a:avLst/>
          </a:prstGeom>
        </p:spPr>
      </p:pic>
      <p:pic>
        <p:nvPicPr>
          <p:cNvPr id="5" name="Image 4" descr="Une image contenant chute d’eau, eau, montagne, plein air&#10;&#10;Description générée automatiquement">
            <a:extLst>
              <a:ext uri="{FF2B5EF4-FFF2-40B4-BE49-F238E27FC236}">
                <a16:creationId xmlns:a16="http://schemas.microsoft.com/office/drawing/2014/main" id="{A494D068-84CF-B165-7751-436DDDD7F69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686" r="4" b="14783"/>
          <a:stretch/>
        </p:blipFill>
        <p:spPr>
          <a:xfrm>
            <a:off x="7188594" y="3429000"/>
            <a:ext cx="5003406" cy="3429000"/>
          </a:xfrm>
          <a:prstGeom prst="rect">
            <a:avLst/>
          </a:prstGeom>
        </p:spPr>
      </p:pic>
      <p:grpSp>
        <p:nvGrpSpPr>
          <p:cNvPr id="402" name="Bottom Right">
            <a:extLst>
              <a:ext uri="{FF2B5EF4-FFF2-40B4-BE49-F238E27FC236}">
                <a16:creationId xmlns:a16="http://schemas.microsoft.com/office/drawing/2014/main" id="{4602417A-49F6-4C14-8B11-5084771A7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403" name="Graphic 157">
              <a:extLst>
                <a:ext uri="{FF2B5EF4-FFF2-40B4-BE49-F238E27FC236}">
                  <a16:creationId xmlns:a16="http://schemas.microsoft.com/office/drawing/2014/main" id="{9803CDD2-AAD9-4EAA-9068-A6D56495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F7C90D60-EDE8-407D-A86D-3CEF27FFCC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10CCD602-3FF2-418C-9B4D-B4780431BA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A9D3269F-9D94-4D85-9E00-1B59A84B7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02203C4A-B4A3-45C0-B0DE-2B9145557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EFCC0D32-1739-4A44-BC19-4ECBE16F2E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259FE917-2EF7-432F-8922-99FECF0BEE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950DFABA-E0A5-4E63-A04E-7CDB6EC5EE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95CF746F-B5C9-4EFB-A1CF-CFA2A049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88582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0" name="Rectangle 32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34" name="Top left">
            <a:extLst>
              <a:ext uri="{FF2B5EF4-FFF2-40B4-BE49-F238E27FC236}">
                <a16:creationId xmlns:a16="http://schemas.microsoft.com/office/drawing/2014/main" id="{34B438D8-EF7C-445C-8B7F-953BEB1BC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9FE087E2-E4B7-42FA-A441-7EDEE41B0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A61B2EF2-665F-429A-9CFB-08C14FAC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B0B1C71-6C49-4F64-8859-9CC59D7D9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66BBF9FA-27D4-45DF-8D9C-623EA4106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0F2F0D01-71CB-4693-A192-5BA045A5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E740E1FB-ACD1-41FC-9828-9B5D2CAA7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12BABC85-DC43-42B8-8AAA-9198D7A62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F48F9955-240E-4180-81B8-5909B1A91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AB56CB-0BA8-D81E-24DA-87DF03FB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3988369" cy="22368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latin typeface="Arial"/>
                <a:cs typeface="Arial"/>
              </a:rPr>
              <a:t>Visualizing data, what for ?</a:t>
            </a:r>
          </a:p>
          <a:p>
            <a:pPr>
              <a:lnSpc>
                <a:spcPct val="90000"/>
              </a:lnSpc>
            </a:pPr>
            <a:br>
              <a:rPr lang="en-US" sz="3100" dirty="0"/>
            </a:br>
            <a:endParaRPr lang="en-US" sz="3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0ADF-E449-1953-F99A-318EB8D60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653" y="2955401"/>
            <a:ext cx="4242215" cy="31576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ea typeface="+mn-lt"/>
                <a:cs typeface="+mn-lt"/>
              </a:rPr>
              <a:t>Visualizing data is making sense of information</a:t>
            </a:r>
          </a:p>
          <a:p>
            <a:endParaRPr lang="en-US" sz="2200" dirty="0">
              <a:ea typeface="+mn-lt"/>
              <a:cs typeface="+mn-lt"/>
            </a:endParaRPr>
          </a:p>
          <a:p>
            <a:r>
              <a:rPr lang="en-US" sz="2200" dirty="0">
                <a:ea typeface="+mn-lt"/>
                <a:cs typeface="+mn-lt"/>
              </a:rPr>
              <a:t>Representing data in high dimensions : AI ?</a:t>
            </a:r>
          </a:p>
          <a:p>
            <a:endParaRPr lang="en-US" sz="1800" dirty="0">
              <a:ea typeface="+mn-lt"/>
              <a:cs typeface="+mn-lt"/>
            </a:endParaRPr>
          </a:p>
        </p:txBody>
      </p:sp>
      <p:pic>
        <p:nvPicPr>
          <p:cNvPr id="4" name="Image 3" descr="Une image contenant texte, fournitures de bureau, papeterie, Parallèle&#10;&#10;Description générée automatiquement">
            <a:extLst>
              <a:ext uri="{FF2B5EF4-FFF2-40B4-BE49-F238E27FC236}">
                <a16:creationId xmlns:a16="http://schemas.microsoft.com/office/drawing/2014/main" id="{B9129A5C-1A2E-860B-68A5-43C93EDFB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903" y="726633"/>
            <a:ext cx="6387190" cy="5399479"/>
          </a:xfrm>
          <a:prstGeom prst="rect">
            <a:avLst/>
          </a:prstGeom>
        </p:spPr>
      </p:pic>
      <p:grpSp>
        <p:nvGrpSpPr>
          <p:cNvPr id="344" name="Bottom Right">
            <a:extLst>
              <a:ext uri="{FF2B5EF4-FFF2-40B4-BE49-F238E27FC236}">
                <a16:creationId xmlns:a16="http://schemas.microsoft.com/office/drawing/2014/main" id="{284021E3-6F46-410C-BF43-B2DED7365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48AF179-3265-4A10-A62C-92B7E186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346" name="Graphic 157">
              <a:extLst>
                <a:ext uri="{FF2B5EF4-FFF2-40B4-BE49-F238E27FC236}">
                  <a16:creationId xmlns:a16="http://schemas.microsoft.com/office/drawing/2014/main" id="{30DF5C12-B34D-4E70-8FD0-D98069994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9589785B-0300-4D1C-BEFB-DCA5AA045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7F41DF3E-3189-428F-B4FE-AACA35130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7C51D846-61EF-4EB5-BE03-65A572A2EA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C5417C86-AA6B-4AD4-BD75-694E8E07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51D5067E-85F6-4202-AFB5-41F9C9EA74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A9598395-257E-4B18-949B-50F109866B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39DDA522-37EB-48B3-9B62-748F75D36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9D8F012-98AD-4320-BA44-DE1CE4E4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9989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1" name="Rectangle 32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22" name="Rectangle 32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B56CB-0BA8-D81E-24DA-87DF03FB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002" y="561472"/>
            <a:ext cx="5622546" cy="166291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latin typeface="Arial"/>
                <a:ea typeface="+mj-lt"/>
                <a:cs typeface="+mj-lt"/>
              </a:rPr>
              <a:t>Dynamic visualization</a:t>
            </a:r>
            <a:endParaRPr lang="en-US" sz="4000" b="1" dirty="0">
              <a:latin typeface="Arial"/>
            </a:endParaRPr>
          </a:p>
        </p:txBody>
      </p:sp>
      <p:grpSp>
        <p:nvGrpSpPr>
          <p:cNvPr id="323" name="Cros">
            <a:extLst>
              <a:ext uri="{FF2B5EF4-FFF2-40B4-BE49-F238E27FC236}">
                <a16:creationId xmlns:a16="http://schemas.microsoft.com/office/drawing/2014/main" id="{59CA7EC1-7302-4393-8C8E-12258F5D4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684664" y="431835"/>
            <a:ext cx="118872" cy="118872"/>
            <a:chOff x="1175347" y="3733800"/>
            <a:chExt cx="118872" cy="118872"/>
          </a:xfrm>
        </p:grpSpPr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35F0BB33-BBF7-4ECA-9EA4-13DBBBFDBB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867B06A1-47C3-458A-832D-639ED434E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0ADF-E449-1953-F99A-318EB8D60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554" y="2375529"/>
            <a:ext cx="5388685" cy="372861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FR" sz="2200" dirty="0" err="1">
                <a:cs typeface="Arial"/>
              </a:rPr>
              <a:t>Making</a:t>
            </a:r>
            <a:r>
              <a:rPr lang="fr-FR" sz="2200" dirty="0">
                <a:cs typeface="Arial"/>
              </a:rPr>
              <a:t> data</a:t>
            </a:r>
            <a:r>
              <a:rPr lang="fr-FR" sz="2200" dirty="0">
                <a:ea typeface="+mn-lt"/>
                <a:cs typeface="+mn-lt"/>
              </a:rPr>
              <a:t> interactive : </a:t>
            </a:r>
            <a:br>
              <a:rPr lang="fr-FR" sz="2200" dirty="0">
                <a:ea typeface="+mn-lt"/>
                <a:cs typeface="+mn-lt"/>
              </a:rPr>
            </a:br>
            <a:endParaRPr lang="fr-FR" sz="2200" dirty="0">
              <a:ea typeface="+mn-lt"/>
              <a:cs typeface="+mn-lt"/>
            </a:endParaRPr>
          </a:p>
          <a:p>
            <a:pPr lvl="1">
              <a:buFont typeface="Courier New" panose="020B0504020202020204" pitchFamily="34" charset="0"/>
              <a:buChar char="o"/>
            </a:pPr>
            <a:r>
              <a:rPr lang="fr-FR" sz="2200" dirty="0" err="1">
                <a:ea typeface="+mn-lt"/>
                <a:cs typeface="+mn-lt"/>
              </a:rPr>
              <a:t>Users</a:t>
            </a:r>
            <a:r>
              <a:rPr lang="fr-FR" sz="2200" dirty="0">
                <a:ea typeface="+mn-lt"/>
                <a:cs typeface="+mn-lt"/>
              </a:rPr>
              <a:t> can select the information </a:t>
            </a:r>
            <a:r>
              <a:rPr lang="fr-FR" sz="2200" dirty="0" err="1">
                <a:ea typeface="+mn-lt"/>
                <a:cs typeface="+mn-lt"/>
              </a:rPr>
              <a:t>that</a:t>
            </a:r>
            <a:r>
              <a:rPr lang="fr-FR" sz="2200" dirty="0">
                <a:ea typeface="+mn-lt"/>
                <a:cs typeface="+mn-lt"/>
              </a:rPr>
              <a:t> </a:t>
            </a:r>
            <a:r>
              <a:rPr lang="fr-FR" sz="2200" dirty="0" err="1">
                <a:ea typeface="+mn-lt"/>
                <a:cs typeface="+mn-lt"/>
              </a:rPr>
              <a:t>interests</a:t>
            </a:r>
            <a:r>
              <a:rPr lang="fr-FR" sz="2200" dirty="0">
                <a:ea typeface="+mn-lt"/>
                <a:cs typeface="+mn-lt"/>
              </a:rPr>
              <a:t> </a:t>
            </a:r>
            <a:r>
              <a:rPr lang="fr-FR" sz="2200" dirty="0" err="1">
                <a:ea typeface="+mn-lt"/>
                <a:cs typeface="+mn-lt"/>
              </a:rPr>
              <a:t>them</a:t>
            </a:r>
            <a:r>
              <a:rPr lang="fr-FR" sz="2200" dirty="0">
                <a:ea typeface="+mn-lt"/>
                <a:cs typeface="+mn-lt"/>
              </a:rPr>
              <a:t> </a:t>
            </a:r>
            <a:br>
              <a:rPr lang="fr-FR" sz="2200" dirty="0">
                <a:ea typeface="+mn-lt"/>
                <a:cs typeface="+mn-lt"/>
              </a:rPr>
            </a:br>
            <a:endParaRPr lang="fr-FR" sz="2200" dirty="0">
              <a:ea typeface="+mn-lt"/>
              <a:cs typeface="+mn-lt"/>
            </a:endParaRPr>
          </a:p>
          <a:p>
            <a:pPr lvl="1">
              <a:buFont typeface="Courier New" panose="020B0504020202020204" pitchFamily="34" charset="0"/>
              <a:buChar char="o"/>
            </a:pPr>
            <a:r>
              <a:rPr lang="fr-FR" sz="2200" dirty="0" err="1">
                <a:ea typeface="+mn-lt"/>
                <a:cs typeface="+mn-lt"/>
              </a:rPr>
              <a:t>Filtering</a:t>
            </a:r>
            <a:r>
              <a:rPr lang="fr-FR" sz="2200" dirty="0">
                <a:ea typeface="+mn-lt"/>
                <a:cs typeface="+mn-lt"/>
              </a:rPr>
              <a:t> information to </a:t>
            </a:r>
            <a:r>
              <a:rPr lang="fr-FR" sz="2200" dirty="0" err="1">
                <a:ea typeface="+mn-lt"/>
                <a:cs typeface="+mn-lt"/>
              </a:rPr>
              <a:t>make</a:t>
            </a:r>
            <a:r>
              <a:rPr lang="fr-FR" sz="2200" dirty="0">
                <a:ea typeface="+mn-lt"/>
                <a:cs typeface="+mn-lt"/>
              </a:rPr>
              <a:t> the </a:t>
            </a:r>
            <a:r>
              <a:rPr lang="fr-FR" sz="2200" dirty="0" err="1">
                <a:ea typeface="+mn-lt"/>
                <a:cs typeface="+mn-lt"/>
              </a:rPr>
              <a:t>dashboard</a:t>
            </a:r>
            <a:r>
              <a:rPr lang="fr-FR" sz="2200" dirty="0">
                <a:ea typeface="+mn-lt"/>
                <a:cs typeface="+mn-lt"/>
              </a:rPr>
              <a:t> more </a:t>
            </a:r>
            <a:r>
              <a:rPr lang="fr-FR" sz="2200" dirty="0" err="1">
                <a:ea typeface="+mn-lt"/>
                <a:cs typeface="+mn-lt"/>
              </a:rPr>
              <a:t>readable</a:t>
            </a:r>
            <a:endParaRPr lang="en-US" sz="2200" dirty="0">
              <a:ea typeface="+mn-lt"/>
              <a:cs typeface="+mn-lt"/>
            </a:endParaRPr>
          </a:p>
          <a:p>
            <a:endParaRPr lang="en-US" sz="1200" dirty="0">
              <a:solidFill>
                <a:srgbClr val="1E1915"/>
              </a:solidFill>
              <a:ea typeface="+mn-lt"/>
              <a:cs typeface="+mn-lt"/>
            </a:endParaRPr>
          </a:p>
          <a:p>
            <a:pPr marL="0" indent="0">
              <a:buNone/>
            </a:pPr>
            <a:br>
              <a:rPr lang="en-US" sz="1800" dirty="0">
                <a:ea typeface="+mn-lt"/>
                <a:cs typeface="+mn-lt"/>
              </a:rPr>
            </a:br>
            <a:endParaRPr lang="en-US" sz="1800" dirty="0">
              <a:ea typeface="+mn-lt"/>
              <a:cs typeface="+mn-lt"/>
            </a:endParaRPr>
          </a:p>
        </p:txBody>
      </p:sp>
      <p:grpSp>
        <p:nvGrpSpPr>
          <p:cNvPr id="300" name="Top left">
            <a:extLst>
              <a:ext uri="{FF2B5EF4-FFF2-40B4-BE49-F238E27FC236}">
                <a16:creationId xmlns:a16="http://schemas.microsoft.com/office/drawing/2014/main" id="{152463F1-086D-4CA9-B597-5588DA81C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CB75CE99-BBD2-4C70-826A-EFBB253F2A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AC44C74B-FB1D-4D2C-A5C3-276D9B4D6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6A442C7C-0FB7-4A4C-89A3-A659C51D0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194882A-25E3-467D-8D04-BF54A1C13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A85E010D-6032-4455-A544-335CB653E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05">
              <a:extLst>
                <a:ext uri="{FF2B5EF4-FFF2-40B4-BE49-F238E27FC236}">
                  <a16:creationId xmlns:a16="http://schemas.microsoft.com/office/drawing/2014/main" id="{2B088A5C-8E3E-4A24-8C6C-AC5A2A013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A0150111-0634-4C54-B1C9-2EC918B2B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07">
              <a:extLst>
                <a:ext uri="{FF2B5EF4-FFF2-40B4-BE49-F238E27FC236}">
                  <a16:creationId xmlns:a16="http://schemas.microsoft.com/office/drawing/2014/main" id="{F5D4A2D6-A381-44FA-A851-7EA2898D40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5" name="Image 4" descr="Une image contenant texte, diagramme, capture d’écran, cercle&#10;&#10;Description générée automatiquement">
            <a:extLst>
              <a:ext uri="{FF2B5EF4-FFF2-40B4-BE49-F238E27FC236}">
                <a16:creationId xmlns:a16="http://schemas.microsoft.com/office/drawing/2014/main" id="{CCE992BD-294A-C923-5B2C-FE6DEDB2C9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338" r="-2" b="-2"/>
          <a:stretch/>
        </p:blipFill>
        <p:spPr>
          <a:xfrm>
            <a:off x="6807491" y="561472"/>
            <a:ext cx="4781280" cy="2797877"/>
          </a:xfrm>
          <a:prstGeom prst="rect">
            <a:avLst/>
          </a:prstGeom>
        </p:spPr>
      </p:pic>
      <p:pic>
        <p:nvPicPr>
          <p:cNvPr id="7" name="Image 6" descr="Une image contenant plage, capture d’écran&#10;&#10;Description générée automatiquement">
            <a:extLst>
              <a:ext uri="{FF2B5EF4-FFF2-40B4-BE49-F238E27FC236}">
                <a16:creationId xmlns:a16="http://schemas.microsoft.com/office/drawing/2014/main" id="{431A1F61-F2ED-436A-9FDE-B60ABF989F1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9" b="41488"/>
          <a:stretch/>
        </p:blipFill>
        <p:spPr>
          <a:xfrm>
            <a:off x="6807491" y="3492181"/>
            <a:ext cx="4781280" cy="2797877"/>
          </a:xfrm>
          <a:prstGeom prst="rect">
            <a:avLst/>
          </a:prstGeom>
        </p:spPr>
      </p:pic>
      <p:grpSp>
        <p:nvGrpSpPr>
          <p:cNvPr id="310" name="Bottom Right">
            <a:extLst>
              <a:ext uri="{FF2B5EF4-FFF2-40B4-BE49-F238E27FC236}">
                <a16:creationId xmlns:a16="http://schemas.microsoft.com/office/drawing/2014/main" id="{474309B2-4DC7-4E32-86FC-0F86C35C3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FE70682C-7D82-44D5-8BD3-97DB2C24BD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312" name="Graphic 157">
              <a:extLst>
                <a:ext uri="{FF2B5EF4-FFF2-40B4-BE49-F238E27FC236}">
                  <a16:creationId xmlns:a16="http://schemas.microsoft.com/office/drawing/2014/main" id="{A6BEBC5D-847D-47A1-8692-9CCDBCA23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DE54E975-067E-4AAF-A989-D85FCF6F97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A261961E-5A56-4DBC-98E2-50812B4FA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59C40D71-93EF-4872-A5AA-6268C6234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627C96D5-063A-41D4-9471-038C85AB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24317024-7301-4D19-B5DD-4B7869139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8AF216A3-B710-4C01-8D08-34CC87037F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BB1F9A11-C722-40C0-9B4A-6CB8F1B9E1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70CE2466-9F02-43DC-A8B9-7476E75AD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3127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1" name="Rectangle 23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AB56CB-0BA8-D81E-24DA-87DF03FB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4390807" cy="1664573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000" b="1" dirty="0">
                <a:latin typeface="Arial"/>
                <a:ea typeface="+mj-lt"/>
                <a:cs typeface="+mj-lt"/>
              </a:rPr>
              <a:t>Real-Life examples for inspiration</a:t>
            </a:r>
            <a:endParaRPr lang="en-US" sz="4000" dirty="0">
              <a:latin typeface="Arial"/>
              <a:cs typeface="Arial"/>
            </a:endParaRPr>
          </a:p>
          <a:p>
            <a:pPr>
              <a:lnSpc>
                <a:spcPct val="90000"/>
              </a:lnSpc>
            </a:pP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0ADF-E449-1953-F99A-318EB8D60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49" y="1917442"/>
            <a:ext cx="4974050" cy="441687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000" dirty="0" err="1">
                <a:cs typeface="Arial"/>
                <a:hlinkClick r:id="rId2"/>
              </a:rPr>
              <a:t>Gapminder</a:t>
            </a:r>
            <a:r>
              <a:rPr lang="en-US" sz="2000" dirty="0">
                <a:cs typeface="Arial"/>
              </a:rPr>
              <a:t> : </a:t>
            </a:r>
            <a:r>
              <a:rPr lang="en-US" sz="2000" dirty="0">
                <a:ea typeface="+mn-lt"/>
                <a:cs typeface="+mn-lt"/>
              </a:rPr>
              <a:t>it promotes a fact-based worldview through data visualization. </a:t>
            </a:r>
            <a:br>
              <a:rPr lang="en-US" sz="2000" dirty="0">
                <a:ea typeface="+mn-lt"/>
                <a:cs typeface="+mn-lt"/>
              </a:rPr>
            </a:b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ea typeface="+mn-lt"/>
                <a:cs typeface="+mn-lt"/>
                <a:hlinkClick r:id="rId3"/>
              </a:rPr>
              <a:t>https://www.villesavivre.fr/</a:t>
            </a:r>
            <a:r>
              <a:rPr lang="en-US" sz="2000" dirty="0">
                <a:ea typeface="+mn-lt"/>
                <a:cs typeface="+mn-lt"/>
              </a:rPr>
              <a:t> : a website </a:t>
            </a:r>
            <a:r>
              <a:rPr lang="en-GB" sz="2000" dirty="0">
                <a:ea typeface="+mn-lt"/>
                <a:cs typeface="+mn-lt"/>
              </a:rPr>
              <a:t>for reviews and comparisons of communes in France</a:t>
            </a:r>
            <a:r>
              <a:rPr lang="en-US" sz="2000" dirty="0">
                <a:ea typeface="+mn-lt"/>
                <a:cs typeface="+mn-lt"/>
              </a:rPr>
              <a:t>.</a:t>
            </a:r>
            <a:br>
              <a:rPr lang="en-US" sz="2000" dirty="0">
                <a:ea typeface="+mn-lt"/>
                <a:cs typeface="+mn-lt"/>
              </a:rPr>
            </a:b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2000" dirty="0">
                <a:ea typeface="+mn-lt"/>
                <a:cs typeface="+mn-lt"/>
                <a:hlinkClick r:id="rId4"/>
              </a:rPr>
              <a:t>Data pathologies</a:t>
            </a:r>
            <a:r>
              <a:rPr lang="en-US" sz="2000" dirty="0">
                <a:ea typeface="+mn-lt"/>
                <a:cs typeface="+mn-lt"/>
              </a:rPr>
              <a:t> : an initiative from Ameli, the </a:t>
            </a:r>
            <a:r>
              <a:rPr lang="en-US" sz="2000" dirty="0" err="1">
                <a:ea typeface="+mn-lt"/>
                <a:cs typeface="+mn-lt"/>
              </a:rPr>
              <a:t>french</a:t>
            </a:r>
            <a:r>
              <a:rPr lang="en-US" sz="2000" dirty="0">
                <a:ea typeface="+mn-lt"/>
                <a:cs typeface="+mn-lt"/>
              </a:rPr>
              <a:t> social care system.</a:t>
            </a:r>
            <a:br>
              <a:rPr lang="en-US" sz="2000" dirty="0">
                <a:ea typeface="+mn-lt"/>
                <a:cs typeface="+mn-lt"/>
              </a:rPr>
            </a:b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r>
              <a:rPr lang="en-US" sz="2000" dirty="0" err="1">
                <a:ea typeface="+mn-lt"/>
                <a:cs typeface="+mn-lt"/>
                <a:hlinkClick r:id="rId5"/>
              </a:rPr>
              <a:t>Numbeo</a:t>
            </a:r>
            <a:r>
              <a:rPr lang="en-US" sz="2000" dirty="0">
                <a:ea typeface="+mn-lt"/>
                <a:cs typeface="+mn-lt"/>
              </a:rPr>
              <a:t>: provides information on various aspects of living, including housing costs, quality of life, etc. </a:t>
            </a:r>
            <a:br>
              <a:rPr lang="en-US" sz="2000" dirty="0">
                <a:ea typeface="+mn-lt"/>
                <a:cs typeface="+mn-lt"/>
              </a:rPr>
            </a:br>
            <a:endParaRPr lang="en-US" sz="1500" dirty="0">
              <a:ea typeface="+mn-lt"/>
              <a:cs typeface="+mn-lt"/>
            </a:endParaRPr>
          </a:p>
        </p:txBody>
      </p:sp>
      <p:grpSp>
        <p:nvGrpSpPr>
          <p:cNvPr id="235" name="Top left">
            <a:extLst>
              <a:ext uri="{FF2B5EF4-FFF2-40B4-BE49-F238E27FC236}">
                <a16:creationId xmlns:a16="http://schemas.microsoft.com/office/drawing/2014/main" id="{1E37CF65-082F-4CE4-B4CE-C544B3C53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92C42DE-AF7D-4999-A3FF-8AE097C6D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33B5725C-82EC-4EA5-9CEF-4D410F8A6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91926A76-7255-4463-A8B3-4B888EC6A9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AC5725CE-966B-46E2-BDC2-F1B8CDE4DE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3D455125-607C-4D9F-A244-37E1428C5B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216D473E-1226-4C55-81F8-45AEDF4BC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9F33202-31B1-4C17-BEB5-AE274669C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4AF311B0-A3D6-4351-9C7C-7817A51FF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6" name="Image 6" descr="Une image contenant texte, capture d’écran, cercle, Police&#10;&#10;Description générée automatiquement">
            <a:extLst>
              <a:ext uri="{FF2B5EF4-FFF2-40B4-BE49-F238E27FC236}">
                <a16:creationId xmlns:a16="http://schemas.microsoft.com/office/drawing/2014/main" id="{3B93FBAB-34BA-A5DE-6E15-F05707950BF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2" r="-3" b="1120"/>
          <a:stretch/>
        </p:blipFill>
        <p:spPr>
          <a:xfrm>
            <a:off x="5996628" y="-36800"/>
            <a:ext cx="6195372" cy="3429000"/>
          </a:xfrm>
          <a:prstGeom prst="rect">
            <a:avLst/>
          </a:prstGeom>
        </p:spPr>
      </p:pic>
      <p:pic>
        <p:nvPicPr>
          <p:cNvPr id="4" name="Image 4" descr="Une image contenant texte, capture d’écran, carte, diagramme&#10;&#10;Description générée automatiquement">
            <a:extLst>
              <a:ext uri="{FF2B5EF4-FFF2-40B4-BE49-F238E27FC236}">
                <a16:creationId xmlns:a16="http://schemas.microsoft.com/office/drawing/2014/main" id="{158AD5CD-69FC-7F22-6E61-DF0D05A0F037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/>
          <a:stretch/>
        </p:blipFill>
        <p:spPr>
          <a:xfrm>
            <a:off x="5996628" y="3429000"/>
            <a:ext cx="6195372" cy="3429000"/>
          </a:xfrm>
          <a:prstGeom prst="rect">
            <a:avLst/>
          </a:prstGeom>
        </p:spPr>
      </p:pic>
      <p:grpSp>
        <p:nvGrpSpPr>
          <p:cNvPr id="245" name="Group 244">
            <a:extLst>
              <a:ext uri="{FF2B5EF4-FFF2-40B4-BE49-F238E27FC236}">
                <a16:creationId xmlns:a16="http://schemas.microsoft.com/office/drawing/2014/main" id="{EC4EB340-5DCE-451D-A309-BB5672901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43600" y="3505200"/>
            <a:ext cx="118872" cy="118872"/>
            <a:chOff x="1175347" y="3733800"/>
            <a:chExt cx="118872" cy="118872"/>
          </a:xfrm>
        </p:grpSpPr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EB1A208A-0319-41ED-A59E-E0B9FC5A6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A2D59DA9-FECE-4280-B818-9E01BAF22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49" name="Bottom Right">
            <a:extLst>
              <a:ext uri="{FF2B5EF4-FFF2-40B4-BE49-F238E27FC236}">
                <a16:creationId xmlns:a16="http://schemas.microsoft.com/office/drawing/2014/main" id="{B80C250A-8A10-498A-8B30-95CC1C4D0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50" name="Graphic 157">
              <a:extLst>
                <a:ext uri="{FF2B5EF4-FFF2-40B4-BE49-F238E27FC236}">
                  <a16:creationId xmlns:a16="http://schemas.microsoft.com/office/drawing/2014/main" id="{5167BAD0-E2F4-4DEC-96B7-D5BA7207B2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3BD2ABA6-992E-4EAD-B75B-D716D2F44F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7A9AD3A3-7B88-432C-A9AB-B32A39E2CD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56363120-61CD-4003-BDE1-78212D87C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C9F0BB8A-1FD3-494D-B37E-135DF81D58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5566BEAD-125A-45B4-9A12-51FC224B47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1600EA94-89CB-45A1-AFC8-27C936FD42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DC2EFF33-F25E-4A25-B6F2-7278C91015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2AE259A3-2954-4E1E-9646-E561C1ECD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6850529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AnalogousFromDarkSeed_2SEEDS">
      <a:dk1>
        <a:srgbClr val="000000"/>
      </a:dk1>
      <a:lt1>
        <a:srgbClr val="FFFFFF"/>
      </a:lt1>
      <a:dk2>
        <a:srgbClr val="222C3B"/>
      </a:dk2>
      <a:lt2>
        <a:srgbClr val="E8E6E2"/>
      </a:lt2>
      <a:accent1>
        <a:srgbClr val="3B6BB1"/>
      </a:accent1>
      <a:accent2>
        <a:srgbClr val="4DAEC3"/>
      </a:accent2>
      <a:accent3>
        <a:srgbClr val="4E4DC3"/>
      </a:accent3>
      <a:accent4>
        <a:srgbClr val="B1763B"/>
      </a:accent4>
      <a:accent5>
        <a:srgbClr val="AEA544"/>
      </a:accent5>
      <a:accent6>
        <a:srgbClr val="88AE3A"/>
      </a:accent6>
      <a:hlink>
        <a:srgbClr val="BF3FB3"/>
      </a:hlink>
      <a:folHlink>
        <a:srgbClr val="7F7F7F"/>
      </a:folHlink>
    </a:clrScheme>
    <a:fontScheme name="Custom 23">
      <a:majorFont>
        <a:latin typeface="Sagona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6b6f885-dcf3-4e30-ac0c-6768ec643f31">
      <Terms xmlns="http://schemas.microsoft.com/office/infopath/2007/PartnerControls"/>
    </lcf76f155ced4ddcb4097134ff3c332f>
    <TaxCatchAll xmlns="da3d2619-2365-4e60-8c51-1b562e3a91f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E3F4E4BD88AD4CB34B9DF005158A3B" ma:contentTypeVersion="11" ma:contentTypeDescription="Crée un document." ma:contentTypeScope="" ma:versionID="4db0f186b32f276e62aaabaf8a57e7b3">
  <xsd:schema xmlns:xsd="http://www.w3.org/2001/XMLSchema" xmlns:xs="http://www.w3.org/2001/XMLSchema" xmlns:p="http://schemas.microsoft.com/office/2006/metadata/properties" xmlns:ns2="a6b6f885-dcf3-4e30-ac0c-6768ec643f31" xmlns:ns3="da3d2619-2365-4e60-8c51-1b562e3a91fb" targetNamespace="http://schemas.microsoft.com/office/2006/metadata/properties" ma:root="true" ma:fieldsID="34fccf57564641053bc874361e958472" ns2:_="" ns3:_="">
    <xsd:import namespace="a6b6f885-dcf3-4e30-ac0c-6768ec643f31"/>
    <xsd:import namespace="da3d2619-2365-4e60-8c51-1b562e3a91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b6f885-dcf3-4e30-ac0c-6768ec643f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ea5cba62-7a90-4cbb-8c0d-a8cd742f6b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3d2619-2365-4e60-8c51-1b562e3a91f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5028b04-052e-4904-b9a4-01b52a4ac4dd}" ma:internalName="TaxCatchAll" ma:showField="CatchAllData" ma:web="da3d2619-2365-4e60-8c51-1b562e3a91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AED849-DA2F-4B60-BEA6-083CDB41B130}">
  <ds:schemaRefs>
    <ds:schemaRef ds:uri="http://purl.org/dc/terms/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da3d2619-2365-4e60-8c51-1b562e3a91fb"/>
    <ds:schemaRef ds:uri="a6b6f885-dcf3-4e30-ac0c-6768ec643f31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9CC48F7-A3B6-40EA-9458-87BF9C0971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b6f885-dcf3-4e30-ac0c-6768ec643f31"/>
    <ds:schemaRef ds:uri="da3d2619-2365-4e60-8c51-1b562e3a91f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6BABEA0-0810-4663-B47D-2330CA49F5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480</Words>
  <Application>Microsoft Office PowerPoint</Application>
  <PresentationFormat>Widescreen</PresentationFormat>
  <Paragraphs>85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Avenir Next LT Pro</vt:lpstr>
      <vt:lpstr>AvenirNext LT Pro Medium</vt:lpstr>
      <vt:lpstr>Calibri</vt:lpstr>
      <vt:lpstr>Courier New</vt:lpstr>
      <vt:lpstr>Mulish</vt:lpstr>
      <vt:lpstr>Sagona Book</vt:lpstr>
      <vt:lpstr>ExploreVTI</vt:lpstr>
      <vt:lpstr>PowerPoint Presentation</vt:lpstr>
      <vt:lpstr>Big Data 101</vt:lpstr>
      <vt:lpstr>The project</vt:lpstr>
      <vt:lpstr> BIG DATA HOUSING    </vt:lpstr>
      <vt:lpstr>Data variety</vt:lpstr>
      <vt:lpstr>Non relational Databases</vt:lpstr>
      <vt:lpstr>Cartographic data</vt:lpstr>
      <vt:lpstr>The Data</vt:lpstr>
      <vt:lpstr>Processing  </vt:lpstr>
      <vt:lpstr>Visualizing data, what for ?  </vt:lpstr>
      <vt:lpstr>Dynamic visualization</vt:lpstr>
      <vt:lpstr>Real-Life examples for inspiration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gaspard varennes</cp:lastModifiedBy>
  <cp:revision>1135</cp:revision>
  <dcterms:created xsi:type="dcterms:W3CDTF">2023-06-14T07:10:42Z</dcterms:created>
  <dcterms:modified xsi:type="dcterms:W3CDTF">2024-01-04T11:46:30Z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0x0101005BE3F4E4BD88AD4CB34B9DF005158A3B</vt:lpwstr>
  </property>
  <property fmtid="{D5CDD505-2E9C-101B-9397-08002B2CF9AE}" pid="3" name="MediaServiceImageTags">
    <vt:lpwstr/>
  </property>
</Properties>
</file>